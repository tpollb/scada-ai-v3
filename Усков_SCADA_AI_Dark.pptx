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72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2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80000"/>
                    </a14:imgEffect>
                  </a14:imgLayer>
                </a14:imgProps>
              </a:ext>
            </a:extLst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5912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0" b="1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SCADA.A</a:t>
            </a:r>
            <a:r>
              <a:rPr dirty="0">
                <a:solidFill>
                  <a:schemeClr val="accent5">
                    <a:lumMod val="7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59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9CA3AF"/>
                </a:solidFill>
                <a:latin typeface="Inter"/>
              </a:defRPr>
            </a:pP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AI-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ассистент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для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промышленной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SCADA-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системы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731520" y="4114800"/>
            <a:ext cx="18288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4480560"/>
            <a:ext cx="1072591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Усков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Сергей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Евгеньевич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t>Версия 3.2.0  ·  Июнь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Суть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32004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81151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Технологический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прорыв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год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ы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вперёд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029200" y="2926080"/>
            <a:ext cx="2130552" cy="0"/>
          </a:xfrm>
          <a:prstGeom prst="line">
            <a:avLst/>
          </a:prstGeom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88720" y="3200400"/>
            <a:ext cx="981151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Inter"/>
              </a:defRPr>
            </a:pP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SCADA.AI —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это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не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просто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инструмент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анализа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b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Это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готовый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продукт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который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выводит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компанию</a:t>
            </a:r>
            <a:b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новый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уровень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автоматизации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интеллектуального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управления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212080"/>
            <a:ext cx="3383280" cy="9144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484614"/>
            <a:ext cx="33832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Готовый продукт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5212080"/>
            <a:ext cx="3383280" cy="9144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0" y="5484614"/>
            <a:ext cx="33832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Лидерство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рынке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46720" y="5212080"/>
            <a:ext cx="3383280" cy="9144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0" y="5484614"/>
            <a:ext cx="341071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Технологическое преимущество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A13E19-9205-FC83-CF3E-A570228BE144}"/>
              </a:ext>
            </a:extLst>
          </p:cNvPr>
          <p:cNvSpPr txBox="1"/>
          <p:nvPr/>
        </p:nvSpPr>
        <p:spPr>
          <a:xfrm>
            <a:off x="731520" y="1188720"/>
            <a:ext cx="1072591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Ценность для компании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Уникальность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78400" y="2075023"/>
            <a:ext cx="3383280" cy="3335964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720" y="2218623"/>
            <a:ext cx="2834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Нативная российская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LLM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952720" y="2858703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2720" y="3133023"/>
            <a:ext cx="283464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Нативная интеграция с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YandexGPT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5.1 — российской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языковой моделью.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Данные не покидают инфраструктуру РФ. Нулевая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зависимость от зарубежных AI-сервисов и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санкционных рисков.</a:t>
            </a:r>
            <a:endParaRPr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000" y="2075023"/>
            <a:ext cx="3383280" cy="3335964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0320" y="2218623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Российские требования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0320" y="2858703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10320" y="3133023"/>
            <a:ext cx="28346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Полное соответствие 152-ФЗ.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Возможность развёртывания в закрытом контуре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без выхода в интернет. Русский интерфейс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 документация «из коробки».</a:t>
            </a:r>
            <a:endParaRPr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93600" y="2075023"/>
            <a:ext cx="3383280" cy="3335964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67920" y="2218623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Гибридная архитектура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267920" y="2858703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67920" y="3109389"/>
            <a:ext cx="28346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Двухслойная архитектура: детерминированные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формулы для расчётов + LLM.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 отличие от западных «чёрных </a:t>
            </a:r>
          </a:p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ящиков» — полная прозрачность решений.</a:t>
            </a:r>
            <a:endParaRPr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7259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Inter"/>
              </a:defRPr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Первое российское решение с полноценным AI-ассистентом </a:t>
            </a:r>
          </a:p>
          <a:p>
            <a:pPr algn="ctr">
              <a:defRPr sz="1600" b="0">
                <a:solidFill>
                  <a:srgbClr val="9CA3AF"/>
                </a:solidFill>
                <a:latin typeface="Inter"/>
              </a:defRPr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для промышленных SCADA-систем</a:t>
            </a:r>
            <a:endParaRPr b="1"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3A4A7A-7C5A-2D8A-4456-33CBC72DD578}"/>
              </a:ext>
            </a:extLst>
          </p:cNvPr>
          <p:cNvSpPr txBox="1"/>
          <p:nvPr/>
        </p:nvSpPr>
        <p:spPr>
          <a:xfrm>
            <a:off x="731520" y="1188720"/>
            <a:ext cx="107259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Прямых конкурентов с таким сочетанием возможностей на российском рынке не представлено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26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Операторы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тонут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в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данных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5912" cy="21954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10 000+ тегов в SCADA-системе промышленного здания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Сотни аварий и событий ежедневно — физически невозможно отследить всё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30-40 минут на ручной анализ одного параметра инженером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Реагирование вместо предотвращения — тушим пожары, а не предупреждаем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Энергоресурсы считаются «на глаз» — нет детализации затрат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20908"/>
            <a:ext cx="1072591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«Оператор не успевает думать — он только реагирует»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AI-ассистент, который думает за оператора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5912" cy="25340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6 независимых модулей: здоровье, энергоучёт, аналитика, логи, диалог, документация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Автоматический анализ 500 000+ записей за 3-5 секунд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Отчёты на естественном языке (русский) — без Excel-таблиц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Интерактивные графики с прогнозами на 7/30/90/365 дней</a:t>
            </a:r>
          </a:p>
          <a:p>
            <a:pPr>
              <a:spcAft>
                <a:spcPts val="800"/>
              </a:spcAft>
              <a:defRPr sz="22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Детерминированный слой — результат всегда воспроизводим и объясним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7259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30 минут ручного анализа  →  5 секунд с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Модули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83280" cy="20116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health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377440"/>
            <a:ext cx="201168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2560320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Индекс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здоровья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системы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Композитная</a:t>
            </a:r>
            <a:r>
              <a:rPr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оценка</a:t>
            </a:r>
            <a:r>
              <a:rPr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0-100 с </a:t>
            </a: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детализацией</a:t>
            </a:r>
            <a:endParaRPr dirty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20116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energy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2377440"/>
            <a:ext cx="201168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3440" y="2560320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Энергоучёт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2834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Электричество</a:t>
            </a:r>
            <a:r>
              <a:rPr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вода</a:t>
            </a:r>
            <a:r>
              <a:rPr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тепло</a:t>
            </a:r>
            <a:r>
              <a:rPr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— </a:t>
            </a: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расчёт</a:t>
            </a:r>
            <a:r>
              <a:rPr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стоимости</a:t>
            </a:r>
            <a:endParaRPr dirty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383280" cy="20116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analytics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21040" y="2377440"/>
            <a:ext cx="201168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21040" y="2560320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Аналитика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тренды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2926080"/>
            <a:ext cx="2834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Прогнозы на 7/30/90/365 дней, корреляции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20116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logs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840" y="4663440"/>
            <a:ext cx="201168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4846320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Анализ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логов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834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AI-анализ системных событий и ошибок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840480"/>
            <a:ext cx="3383280" cy="20116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4114800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chat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3440" y="4663440"/>
            <a:ext cx="201168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3440" y="4846320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Диалоговый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интерфейс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63440" y="521208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Вопросы на естественном языке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840480"/>
            <a:ext cx="3383280" cy="20116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21040" y="4114800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docs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21040" y="4663440"/>
            <a:ext cx="2011680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21040" y="4846320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Документация</a:t>
            </a:r>
            <a:endParaRPr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21040" y="5212080"/>
            <a:ext cx="2834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Inter"/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Встроенная справка и примеры использования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Демо: операторский 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[ СКРИНШОТ ]  Home 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главный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экран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731520" y="1587937"/>
            <a:ext cx="10652758" cy="441364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9CA3AF"/>
                </a:solidFill>
                <a:latin typeface="Inter"/>
              </a:defRPr>
            </a:pP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7752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Всё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что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нужно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оператору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одном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экране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Демо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интерактивная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аналитика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[ СКРИНШОТ ]  AnalyticsPanel — вкладка «Тренды»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87937"/>
            <a:ext cx="10725912" cy="426422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9CA3AF"/>
                </a:solidFill>
                <a:latin typeface="Inter"/>
              </a:defRPr>
            </a:pP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Zoom колёсиком мыши  ·  Скачивание PNG одной кнопкой  ·  Прогноз до 365 дней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Дополнительные возможности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83280" cy="41148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834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Анализ системных логов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2377440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2651760"/>
            <a:ext cx="2834640" cy="170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AI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автоматически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анализирует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системные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события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ошибки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Выявляет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аномалии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группирует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проблемы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формулирует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рекомендации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получает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готовый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отчёт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вместо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сырых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логов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41148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834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Конфигуратор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системы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77440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63440" y="2651760"/>
            <a:ext cx="283464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Полное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управление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модулями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через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веб-интерфейс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Включение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/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выключение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модулей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без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перезапуска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Настройка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тарифов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и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тегов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счётчиков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Изменение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промптов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LLM в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реальном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времени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41148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2834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Встроенная документация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2377440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0" y="2651760"/>
            <a:ext cx="283464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Полная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справка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прямо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в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интерфейсе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Описание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модулей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API endpoints,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примеры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запросов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к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чату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Архитектура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системы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История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изменений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(CHANGELOG).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Доступ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через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кнопку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в </a:t>
            </a:r>
            <a:r>
              <a:rPr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сайдбаре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9366"/>
            <a:ext cx="107259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Inter"/>
              </a:defRPr>
            </a:pP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Всё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управление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системой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—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через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единый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интерфейс</a:t>
            </a:r>
            <a:endParaRPr b="1"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Демо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анализ системных логов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[ СКРИНШОТ ]  </a:t>
            </a:r>
            <a:r>
              <a:rPr lang="en-US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SystemLog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AnalyticsPanel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вкладка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«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Логи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9377"/>
            <a:ext cx="10725912" cy="417278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9CA3AF"/>
                </a:solidFill>
                <a:latin typeface="Inter"/>
              </a:defRPr>
            </a:pP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Выявление аномалий  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Группировка проблем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· 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Готовый отчёт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  <p:extLst>
      <p:ext uri="{BB962C8B-B14F-4D97-AF65-F5344CB8AC3E}">
        <p14:creationId xmlns:p14="http://schemas.microsoft.com/office/powerpoint/2010/main" val="48187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Демо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конфигуратор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[ СКРИНШОТ ] 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Config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вкладка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«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Модули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79377"/>
            <a:ext cx="10725912" cy="417278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9CA3AF"/>
                </a:solidFill>
                <a:latin typeface="Inter"/>
              </a:defRPr>
            </a:pP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Управление модулями  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Настройка тарифов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· 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Конфиг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LLM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в реальном времени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  <p:extLst>
      <p:ext uri="{BB962C8B-B14F-4D97-AF65-F5344CB8AC3E}">
        <p14:creationId xmlns:p14="http://schemas.microsoft.com/office/powerpoint/2010/main" val="109023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Экономический эффект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64010"/>
            <a:ext cx="365760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360×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657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ускорение анализа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657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30 мин  →  5 сек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6400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Экономия расходов: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6400800" cy="1554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Время инженеров-аналитиков: -30 часов/месяц на отчёты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Предотвращение аварий через прогнозирование (до 365 дней)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Оптимизация энергопотребления через интервальные тарифы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Раннее выявление битых датчиков (экономия на ложных срабатываниях)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023360"/>
            <a:ext cx="6400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Повышение эффективности: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572000"/>
            <a:ext cx="6400800" cy="990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Оператор принимает решения на основе данных, а не интуиции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Прогнозы на 90/365 дней позволяют планировать ремонты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Прозрачная отчётность для руководства (PDF одним кликом)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03788"/>
            <a:ext cx="1072591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Экономит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расходы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+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Повышает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эффективность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операций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=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Максимальный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тип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предложения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Стадия готовности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657600" cy="256032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590824"/>
            <a:ext cx="36576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657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готовность к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657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Выпуск за 1 неделю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6400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Что сделано: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400800" cy="24314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Рабочая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версия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3.2.0 с 6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модулями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Интеграция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с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реальной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БД SCADA (PostgreSQL /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TimescaleDB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Обработка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500 000+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записей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в production-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режиме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Интерактивная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визуализация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(Chart.js + zoom/pan)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Русифицированный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UI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всеми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виджетами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Полная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документация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(6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файлов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markdown)</a:t>
            </a:r>
          </a:p>
          <a:p>
            <a:pPr>
              <a:spcAft>
                <a:spcPts val="800"/>
              </a:spcAft>
              <a:defRPr sz="16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✓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История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версий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с v1.x.x и CHANGELOG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19177"/>
            <a:ext cx="10725912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Идея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Прототип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Тестирование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 · 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Готов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к </a:t>
            </a:r>
            <a:r>
              <a:rPr b="1" dirty="0" err="1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реализации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В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продакшене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Планы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v3.3.0  ·  Deep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Хирургический инструмент для инженеров-аналитиков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22211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Isolation Forest — детекция аномалий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FFT — обнаружение сезонных циклов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Granger Causality — причинно-следственные связи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A/B сравнение периодов (t-test, Mann-Whitney)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Экспорт отчётов в PDF и Excel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Выбор любого тега или группы тегов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v4.0.0  ·  Долгосрочные цели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Расширение аудитории и возможностей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4572000" cy="22211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Boss Dashboard 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экран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для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руководства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(KPI)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Ролевая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модель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(admin / engineer / operator / boss)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Mobile App 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доступ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с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планшета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/телефона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Multi-tenancy —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масштабирование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здания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Telegram-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интеграция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для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алертов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Расписания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проверок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с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уведомлениями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72591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Цель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превратить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SCADA.AI в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полноценный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BI-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инструмент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для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промышленного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предприятия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Поддержка и коммерциализация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5912" cy="438912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151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Yandex.AI.Boost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8115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П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рограмма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поддержки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AI-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проектов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188720" y="3017520"/>
            <a:ext cx="9811512" cy="0"/>
          </a:xfrm>
          <a:prstGeom prst="line">
            <a:avLst/>
          </a:prstGeom>
          <a:ln w="127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88720" y="3291840"/>
            <a:ext cx="45720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Текущий этап: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457200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Грант 100 000 ₽ получен и освоен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Используется YandexGPT 5.1 как основная LLM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Еженедельная отчётность перед Яндексом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—  Все API-запросы идут через Яндекс.Облако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45720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Следующий этап: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457200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Увеличение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гранта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до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1 000 000 ₽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Размещение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в Yandex Cloud Marketplace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SaaS-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модель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продаж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(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подписка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—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Продакшн-внедрение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первом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объекте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s.uskov@iridi.tech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772983"/>
            <a:ext cx="10725912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9FAFB"/>
                </a:solidFill>
                <a:latin typeface="Inter"/>
              </a:defRPr>
            </a:pP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Проведены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консультации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с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Яндекс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модели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продаж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SaaS.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Достигнуты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договорённости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о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размещении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маркетплейсе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sz="17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приложений</a:t>
            </a:r>
            <a:r>
              <a:rPr sz="17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Ключевые преимущества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38404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1089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9FAFB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Детерминированность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005840" y="2377440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2651760"/>
            <a:ext cx="292608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Формулы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вместо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«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чёрного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ящика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».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Каждый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штраф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каждый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индекс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—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объясним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видит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математику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а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не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магию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Полная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воспроизводимость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результатов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474720" cy="38404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926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Скорость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77440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63440" y="2651760"/>
            <a:ext cx="292608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500 000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записей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анализируются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за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3-5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секунд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Python-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агрегация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+ LLM-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интерпретация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Быстрее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любого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ручного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Excel-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отчёта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Мгновенная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обратная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связь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оператору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474720" cy="384048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2926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Расширяемость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2377440"/>
            <a:ext cx="2011680" cy="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0" y="2651760"/>
            <a:ext cx="292608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Новый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модуль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= 1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папка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+ 3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файла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Добавить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анализ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нового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параметра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— 1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день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работы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Модульная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архитектура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не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требует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переписывания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системы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при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расширении</a:t>
            </a:r>
            <a:r>
              <a:rPr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F9071-6EFF-0196-E4A9-68DA7359F771}"/>
              </a:ext>
            </a:extLst>
          </p:cNvPr>
          <p:cNvSpPr txBox="1"/>
          <p:nvPr/>
        </p:nvSpPr>
        <p:spPr>
          <a:xfrm>
            <a:off x="731520" y="5852160"/>
            <a:ext cx="107259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Inter"/>
              </a:defRPr>
            </a:pPr>
            <a:r>
              <a:rPr lang="ru-RU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Каждый индекс — объясним .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Мгновенная обратная связь . Модульная архитектура</a:t>
            </a:r>
            <a:endParaRPr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Современные, проверенные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114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4114800" cy="22211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Python 3.13</a:t>
            </a:r>
            <a:endParaRPr lang="ru-RU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·  Асинхронный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HTTP-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сервер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Реляционная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БД с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расширениями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для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time-series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YandexGPT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5.1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 — большая языковая модель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С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татистическая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обработка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lang="ru-RU" dirty="0">
                <a:latin typeface="Segoe UI Light" panose="020B0502040204020203" pitchFamily="34" charset="0"/>
                <a:cs typeface="Segoe UI Light" panose="020B0502040204020203" pitchFamily="34" charset="0"/>
              </a:rPr>
              <a:t>С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ерверная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генерация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графиков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solidFill>
            <a:srgbClr val="1F2937">
              <a:alpha val="70000"/>
            </a:srgbClr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114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114800" cy="1990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Современный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реактивный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фреймворк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Utility-first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стилизация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Интерактивные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графики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с zoom/pan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Адаптивный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дизайн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(mobile + desktop)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Минимальный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размер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бандла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· 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Быстрая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hot-reload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7259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Inter"/>
              </a:defRPr>
            </a:pP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Модульная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архитектура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: </a:t>
            </a: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добавление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нового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модуля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= 1 </a:t>
            </a: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папка</a:t>
            </a:r>
            <a:r>
              <a:rPr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+ 3 </a:t>
            </a:r>
            <a:r>
              <a:rPr b="1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файла</a:t>
            </a:r>
            <a:endParaRPr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591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591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Inter"/>
              </a:defRPr>
            </a:pP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Готов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ответить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на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вопросы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и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показать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живое</a:t>
            </a: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демо</a:t>
            </a:r>
            <a:endParaRPr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0" y="3931920"/>
            <a:ext cx="2130552" cy="0"/>
          </a:xfrm>
          <a:prstGeom prst="line">
            <a:avLst/>
          </a:prstGeom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4297680"/>
            <a:ext cx="1072591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Усков Сергей Евгеньевич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237581"/>
            <a:ext cx="3200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uskov-se.ru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5237581"/>
            <a:ext cx="3200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iridi.com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603341"/>
            <a:ext cx="3200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0">
                <a:solidFill>
                  <a:srgbClr val="9CA3AF"/>
                </a:solidFill>
                <a:latin typeface="Inter"/>
              </a:defRPr>
            </a:pPr>
            <a:r>
              <a:rPr dirty="0">
                <a:latin typeface="Segoe UI Light" panose="020B0502040204020203" pitchFamily="34" charset="0"/>
                <a:cs typeface="Segoe UI Light" panose="020B0502040204020203" pitchFamily="34" charset="0"/>
              </a:rPr>
              <a:t>q3mydoom@gmail.com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5603341"/>
            <a:ext cx="3200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s.uskov@iridi.tech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9672" y="6400800"/>
            <a:ext cx="324960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B7280"/>
                </a:solidFill>
                <a:latin typeface="Inter"/>
              </a:defRPr>
            </a:pPr>
            <a:r>
              <a:rPr>
                <a:latin typeface="Segoe UI Light" panose="020B0502040204020203" pitchFamily="34" charset="0"/>
                <a:cs typeface="Segoe UI Light" panose="020B0502040204020203" pitchFamily="34" charset="0"/>
              </a:rPr>
              <a:t>uskov-se.ru  ·  iridi.com  ·  q3mydoom@gmail.com  ·  s.uskov@iridi.tech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1B14C-5448-FAA0-3AE0-6F74B7F1E2DA}"/>
              </a:ext>
            </a:extLst>
          </p:cNvPr>
          <p:cNvSpPr txBox="1"/>
          <p:nvPr/>
        </p:nvSpPr>
        <p:spPr>
          <a:xfrm>
            <a:off x="731520" y="4787002"/>
            <a:ext cx="107259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Inter"/>
              </a:defRPr>
            </a:pPr>
            <a:r>
              <a:rPr lang="ru-RU" sz="1400" dirty="0">
                <a:latin typeface="Segoe UI Light" panose="020B0502040204020203" pitchFamily="34" charset="0"/>
                <a:cs typeface="Segoe UI Light" panose="020B0502040204020203" pitchFamily="34" charset="0"/>
              </a:rPr>
              <a:t>Автор и руководитель проекта</a:t>
            </a:r>
            <a:endParaRPr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1515</Words>
  <Application>Microsoft Office PowerPoint</Application>
  <PresentationFormat>Произвольный</PresentationFormat>
  <Paragraphs>197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UI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iRidi0903</cp:lastModifiedBy>
  <cp:revision>54</cp:revision>
  <dcterms:created xsi:type="dcterms:W3CDTF">2013-01-27T09:14:16Z</dcterms:created>
  <dcterms:modified xsi:type="dcterms:W3CDTF">2026-06-18T10:45:35Z</dcterms:modified>
  <cp:category/>
</cp:coreProperties>
</file>