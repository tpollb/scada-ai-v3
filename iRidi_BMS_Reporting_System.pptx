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0F0F0"/>
                </a:solidFill>
                <a:latin typeface="Segoe UI Light"/>
              </a:defRPr>
            </a:pPr>
            <a:r>
              <a:t>СИСТЕМА ОТЧЁТОВ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FA5E6"/>
                </a:solidFill>
                <a:latin typeface="Segoe UI Light"/>
              </a:defRPr>
            </a:pPr>
            <a:r>
              <a:t>iRidi SCADA-BMS  ·  Stimulsoft Reports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0058400" cy="12700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 Light"/>
              </a:defRPr>
            </a:pPr>
            <a:r>
              <a:t>Формирование, визуализация и экспорт отчётности по инженерным системам зданий и сооружений. Инструмент контроля, аудита и экономической оптимизации.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10332720" cy="8229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5623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7878"/>
                </a:solidFill>
                <a:latin typeface="Segoe UI Light"/>
              </a:defRPr>
            </a:pPr>
            <a:r>
              <a:t>Платформы: Windows · Linux · Debian 12    |    Экспорт: PDF · Excel · Word · HTML · CSV · JSON · XML    |    Источники: PostgreSQL · OData ·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6437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rPr dirty="0" err="1"/>
              <a:t>Модуль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стандартную</a:t>
            </a:r>
            <a:r>
              <a:rPr dirty="0"/>
              <a:t> </a:t>
            </a:r>
            <a:r>
              <a:rPr dirty="0" err="1"/>
              <a:t>поставку</a:t>
            </a:r>
            <a:r>
              <a:rPr dirty="0"/>
              <a:t> </a:t>
            </a:r>
            <a:r>
              <a:rPr dirty="0" err="1"/>
              <a:t>iRidi</a:t>
            </a:r>
            <a:r>
              <a:rPr dirty="0"/>
              <a:t> SCADA-BMS. </a:t>
            </a:r>
            <a:r>
              <a:rPr dirty="0" err="1"/>
              <a:t>Лицензия</a:t>
            </a:r>
            <a:r>
              <a:rPr dirty="0"/>
              <a:t> </a:t>
            </a:r>
            <a:r>
              <a:rPr dirty="0" err="1"/>
              <a:t>Stimulsoft</a:t>
            </a:r>
            <a:r>
              <a:rPr dirty="0"/>
              <a:t> — royalty-free,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отчислений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ОБЩЕЕ ОПИСАНИЕ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Архитектура модуля отчётности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30352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" cy="4206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ЧТО ЭТО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Встроенный модуль генерации отчётов на базе движка Stimulsoft Reports.JS, интегрированный в iRidi SCADA-BMS. Работает на одном сервере со SCADA Server, подключается к базе данных PostgreSQL и формирует отчёты произвольной сложности.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КЛЮЧЕВЫЕ ОСОБЕННОСТИ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484632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Веб-интерфейс</a:t>
            </a:r>
            <a:r>
              <a:rPr dirty="0"/>
              <a:t> — </a:t>
            </a:r>
            <a:r>
              <a:rPr dirty="0" err="1"/>
              <a:t>редактирование</a:t>
            </a:r>
            <a:r>
              <a:rPr dirty="0"/>
              <a:t> </a:t>
            </a:r>
            <a:r>
              <a:rPr dirty="0" err="1"/>
              <a:t>шаблонов</a:t>
            </a:r>
            <a:r>
              <a:rPr dirty="0"/>
              <a:t>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браузера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Шаблоны</a:t>
            </a:r>
            <a:r>
              <a:rPr dirty="0"/>
              <a:t> — </a:t>
            </a:r>
            <a:r>
              <a:rPr dirty="0" err="1"/>
              <a:t>готовые</a:t>
            </a:r>
            <a:r>
              <a:rPr dirty="0"/>
              <a:t> </a:t>
            </a:r>
            <a:r>
              <a:rPr dirty="0" err="1"/>
              <a:t>формы</a:t>
            </a:r>
            <a:r>
              <a:rPr dirty="0"/>
              <a:t> «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» и «</a:t>
            </a:r>
            <a:r>
              <a:rPr dirty="0" err="1"/>
              <a:t>Значения</a:t>
            </a:r>
            <a:r>
              <a:rPr dirty="0"/>
              <a:t> </a:t>
            </a:r>
            <a:r>
              <a:rPr dirty="0" err="1"/>
              <a:t>тегов</a:t>
            </a:r>
            <a:r>
              <a:rPr dirty="0"/>
              <a:t>»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Группировка</a:t>
            </a:r>
            <a:r>
              <a:rPr dirty="0"/>
              <a:t> —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тегам</a:t>
            </a:r>
            <a:r>
              <a:rPr dirty="0"/>
              <a:t>, </a:t>
            </a:r>
            <a:r>
              <a:rPr dirty="0" err="1"/>
              <a:t>датам</a:t>
            </a:r>
            <a:r>
              <a:rPr dirty="0"/>
              <a:t> (</a:t>
            </a:r>
            <a:r>
              <a:rPr dirty="0" err="1"/>
              <a:t>день</a:t>
            </a:r>
            <a:r>
              <a:rPr dirty="0"/>
              <a:t> / </a:t>
            </a:r>
            <a:r>
              <a:rPr dirty="0" err="1"/>
              <a:t>неделя</a:t>
            </a:r>
            <a:r>
              <a:rPr dirty="0"/>
              <a:t> / </a:t>
            </a:r>
            <a:r>
              <a:rPr dirty="0" err="1"/>
              <a:t>месяц</a:t>
            </a:r>
            <a:r>
              <a:rPr dirty="0"/>
              <a:t>), </a:t>
            </a:r>
            <a:r>
              <a:rPr dirty="0" err="1"/>
              <a:t>зонам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Агрегация</a:t>
            </a:r>
            <a:r>
              <a:rPr dirty="0"/>
              <a:t> — </a:t>
            </a:r>
            <a:r>
              <a:rPr dirty="0" err="1"/>
              <a:t>суммы</a:t>
            </a:r>
            <a:r>
              <a:rPr dirty="0"/>
              <a:t>, </a:t>
            </a:r>
            <a:r>
              <a:rPr dirty="0" err="1"/>
              <a:t>средние</a:t>
            </a:r>
            <a:r>
              <a:rPr dirty="0"/>
              <a:t>, </a:t>
            </a:r>
            <a:r>
              <a:rPr dirty="0" err="1"/>
              <a:t>итоги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группам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Totals</a:t>
            </a:r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Фильтрация</a:t>
            </a:r>
            <a:r>
              <a:rPr dirty="0"/>
              <a:t> —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произвольным</a:t>
            </a:r>
            <a:r>
              <a:rPr dirty="0"/>
              <a:t> </a:t>
            </a:r>
            <a:r>
              <a:rPr dirty="0" err="1"/>
              <a:t>полям</a:t>
            </a:r>
            <a:r>
              <a:rPr dirty="0"/>
              <a:t>, в </a:t>
            </a:r>
            <a:r>
              <a:rPr dirty="0" err="1"/>
              <a:t>т.ч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включённым</a:t>
            </a:r>
            <a:r>
              <a:rPr dirty="0"/>
              <a:t> в </a:t>
            </a:r>
            <a:r>
              <a:rPr dirty="0" err="1"/>
              <a:t>отчёт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F0F0F0"/>
                </a:solidFill>
                <a:latin typeface="Segoe UI Light"/>
              </a:defRPr>
            </a:pPr>
            <a:r>
              <a:rPr dirty="0"/>
              <a:t>›  </a:t>
            </a:r>
            <a:r>
              <a:rPr dirty="0" err="1"/>
              <a:t>Экспорт</a:t>
            </a:r>
            <a:r>
              <a:rPr dirty="0"/>
              <a:t> — PDF, Excel, Word, HTML, CSV, JSON, SVG, XML и </a:t>
            </a:r>
            <a:r>
              <a:rPr dirty="0" err="1"/>
              <a:t>др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20240"/>
            <a:ext cx="4754880" cy="1920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920240"/>
            <a:ext cx="36576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ПРИНЦИП РАБОТЫ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231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SCADA Server собирает данные с контроллеров и сохраняет в PostgreSQL. Модуль Stimulsoft подключается к этой же БД и по запросу формирует отчёт по шаблону. Результат — готовый документ в выбранном формате.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114800"/>
            <a:ext cx="475488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4114800"/>
            <a:ext cx="36576" cy="20116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4297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ТИПЫ СОБЫТИЙ В ОТЧЁТАХ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1772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0F0F0"/>
                </a:solidFill>
                <a:latin typeface="Segoe UI Light"/>
              </a:defRPr>
            </a:pPr>
            <a:r>
              <a:t>›  UserLogin / UserLogout — вход и выход пользователей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Alarm / AlarmConfirmed / AlarmsCleared — аварийные события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TagAccessed / TagChanged — изменения значений тегов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CustomEvent / CustomAlarm — пользовательские события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DbConnected / DbDisconnected — состояние БД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LogsCleaningPerformed — очистка журналов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ЦЕННОСТЬ ДЛЯ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Что получает заказчик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51460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" cy="3474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8D4"/>
                </a:solidFill>
                <a:latin typeface="Segoe UI Light"/>
              </a:defRPr>
            </a:pPr>
            <a:r>
              <a:t>ПРОЗРАЧНОСТЬ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Полная картина работы инженерных систем: от состояния датчиков до действий операторов. Каждое событие зафиксировано с точностью до секунды.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20240"/>
            <a:ext cx="251460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920240"/>
            <a:ext cx="36576" cy="3474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Segoe UI Light"/>
              </a:defRPr>
            </a:pPr>
            <a:r>
              <a:t>ДОКАЗАТЕЛЬНОСТЬ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Юридически значимые документы: отчёты с timestamp, экспорт в PDF с подписями. Основа для споров с ресурсоснабжающими организациями.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251460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36576" cy="3474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B300"/>
                </a:solidFill>
                <a:latin typeface="Segoe UI Light"/>
              </a:defRPr>
            </a:pPr>
            <a:r>
              <a:t>АВТОМАТИЗАЦИЯ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Шаблоны отчётов формируются автоматически. Ежедневные, еженедельные и ежемесячные сводки — без ручного вмешательства оператора.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920240"/>
            <a:ext cx="2514600" cy="34747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920240"/>
            <a:ext cx="36576" cy="3474720"/>
          </a:xfrm>
          <a:prstGeom prst="rect">
            <a:avLst/>
          </a:prstGeom>
          <a:solidFill>
            <a:srgbClr val="4F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FA5E6"/>
                </a:solidFill>
                <a:latin typeface="Segoe UI Light"/>
              </a:defRPr>
            </a:pPr>
            <a:r>
              <a:t>ИНТЕГРАЦИЯ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Готовые форматы для бухгалтерии, руководства, контролирующих органов. Экспорт в Excel для анализа, в PDF для архива и отчётности.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69280"/>
            <a:ext cx="10332720" cy="82296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5669280"/>
            <a:ext cx="36576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806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Итог: система отчётов трансформирует сырые данные SCADA в управленческие, финансовые и юридические документы — без привлечения программистов и внешних BI-систем.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СИТУАЦИИ ПРИМЕНЕНИЯ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Когда и как использовать отчёты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8D4"/>
                </a:solidFill>
                <a:latin typeface="Segoe UI Light"/>
              </a:defRPr>
            </a:pPr>
            <a:r>
              <a:t>ЭКСПЛУАТАЦИОННЫЙ КОНТРОЛЬ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Ежесменный отчёт: состояние систем, аварии, действия персонала. Группировка по зонам и времени суток.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Диспетчер · Главный инженер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20240"/>
            <a:ext cx="36576" cy="2148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00"/>
                </a:solidFill>
                <a:latin typeface="Segoe UI Light"/>
              </a:defRPr>
            </a:pPr>
            <a:r>
              <a:t>АВАРИЙНЫЙ 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Последовательность инцидентов, время реакции, длительность аварий. Выявление системных проблем и повторяющихся сбоев.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Служба эксплуатации · Сервис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2024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920240"/>
            <a:ext cx="36576" cy="21488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Segoe UI Light"/>
              </a:defRPr>
            </a:pPr>
            <a:r>
              <a:t>ЭНЕРГЕТИЧЕСКИЙ АУДИТ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Показания счётчиков и датчиков по дням, неделям, месяцам. Пики, динамика, суммарное потребление по зонам.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Энергоменеджер · Бухгалтерия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5196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251960"/>
            <a:ext cx="36576" cy="2148840"/>
          </a:xfrm>
          <a:prstGeom prst="rect">
            <a:avLst/>
          </a:prstGeom>
          <a:solidFill>
            <a:srgbClr val="4FA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СВЕРКА С РСО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Показания приборов учёта за период. Экспорт в Excel и PDF для передачи в энергосбыт, водоканал, теплосеть.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943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Бухгалтерия · Финансовый отдел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25196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4251960"/>
            <a:ext cx="36576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8D4"/>
                </a:solidFill>
                <a:latin typeface="Segoe UI Light"/>
              </a:defRPr>
            </a:pPr>
            <a:r>
              <a:t>АУДИТ ПЕРСОНАЛА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Входы, выходы, действия операторов. Фиксация несанкционированного доступа и изменения уставок.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943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СБ · Руководство объекта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251960"/>
            <a:ext cx="3337560" cy="21488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55279" y="4251960"/>
            <a:ext cx="36576" cy="2148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79" y="4434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00"/>
                </a:solidFill>
                <a:latin typeface="Segoe UI Light"/>
              </a:defRPr>
            </a:pPr>
            <a:r>
              <a:t>РЕГЛАМЕНТНАЯ ОТЧЁТНОСТЬ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754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Ежемесячные сводки для руководства и собственников. KPI, статистика отказов, потребление ресурсов.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943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  <a:latin typeface="Segoe UI Light"/>
              </a:defRPr>
            </a:pPr>
            <a:r>
              <a:t>УК · Собственник · Арендодатель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ЭКОНОМИЧЕСКИЙ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Измеримая выгода для собственника и УК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12064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4CAF50"/>
                </a:solidFill>
                <a:latin typeface="Segoe UI Light"/>
              </a:defRPr>
            </a:pPr>
            <a:r>
              <a:t>15–25%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снижение затрат на энергоресурсы за счёт выявления аномалий потребления и неэффективных режимов работы оборудования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t>Энергоаудит через отчёты «Значения тегов» с группировкой по периодам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4CAF50"/>
                </a:solidFill>
                <a:latin typeface="Segoe UI Light"/>
              </a:defRPr>
            </a:pPr>
            <a:r>
              <a:t>30–50%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сокращение трудозатрат на подготовку регламентной отчётности для руководства, собственников и контролирующих органов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t>Автоматические шаблоны вместо ручного сбора данных из журналов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512064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4CAF50"/>
                </a:solidFill>
                <a:latin typeface="Segoe UI Light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43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возврат переплат при успешном оспаривании начислений ресурсоснабжающих организаций на основании данных SCADA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t>Отчёты с timestamp и подписью как доказательная база в спорах с РСО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0">
                <a:solidFill>
                  <a:srgbClr val="4CAF50"/>
                </a:solidFill>
                <a:latin typeface="Segoe UI Light"/>
              </a:defRPr>
            </a:pPr>
            <a:r>
              <a:t>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43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Segoe UI Light"/>
              </a:defRPr>
            </a:pPr>
            <a:r>
              <a:t>дополнительных отчислений за формирование отчётов конечными пользователями — лицензия Stimulsoft royalty-free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t>Модуль входит в поставку iRidi SCADA-BMS, не требует отдельных лицензий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309360"/>
            <a:ext cx="10332720" cy="45720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63550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Типовая окупаемость модуля отчётности: 3–6 месяцев только за счёт оспаривания начислений РСО и оптимизации энергопотребления.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ОСПАРИВАНИЕ НАЧИСЛЕНИЙ РСО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Отчёт SCADA как доказательная база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12064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" cy="4206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300"/>
                </a:solidFill>
                <a:latin typeface="Segoe UI Light"/>
              </a:defRPr>
            </a:pPr>
            <a:r>
              <a:t>ТИПОВЫЕ СИТУАЦИИ СПОРОВ С РСО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›  Расхождение показаний: счётчик РСО и прибор учёта на стороне потребителя дают разные значения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  <a:latin typeface="Segoe UI Light"/>
              </a:defRPr>
            </a:pPr>
            <a:r>
              <a:t>›  Начисления по нормативу при фактическом наличии работающего прибора учёта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  <a:latin typeface="Segoe UI Light"/>
              </a:defRPr>
            </a:pPr>
            <a:r>
              <a:t>›  Завышение пикового потребления из-за ошибок интеграции или неверных коэффициентов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  <a:latin typeface="Segoe UI Light"/>
              </a:defRPr>
            </a:pPr>
            <a:r>
              <a:t>›  Начисления за периоды, когда объект фактически не потреблял ресурс (простои, аварии на стороне РСО)</a:t>
            </a:r>
          </a:p>
          <a:p>
            <a:pPr>
              <a:spcAft>
                <a:spcPts val="600"/>
              </a:spcAft>
              <a:defRPr sz="1200">
                <a:solidFill>
                  <a:srgbClr val="F0F0F0"/>
                </a:solidFill>
                <a:latin typeface="Segoe UI Light"/>
              </a:defRPr>
            </a:pPr>
            <a:r>
              <a:t>›  Некорректная тарификация: применение повышенного тарифа к объёмам, попадающим под базовый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493776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36576" cy="4206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CAF50"/>
                </a:solidFill>
                <a:latin typeface="Segoe UI Light"/>
              </a:defRPr>
            </a:pPr>
            <a:r>
              <a:t>ЧТО ПРЕДОСТАВЛЯЕТ SCADA-BMS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1. НЕПРЕРЫВНАЯ ФИКСАЦИЯ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Архив значений тегов с точностью до секунды. Невозможно оспорить: данные хранятся в PostgreSQL, изменения фиксируются в журнале.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2. ГРУППИРОВКА ПО ПЕРИОДАМ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Отчёт за конкретный расчётный период РСО. Функция DayOfYear() и группировка по тегам формируют точную картину потребления.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3. ЮРИДИЧЕСКИ ЗНАЧИМЫЙ ФОРМАТ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34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Экспорт в PDF с метаданными, подписями, временными метками. Excel — для сверки построчно с актами РСО.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83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4. ИСТОРИЯ СОБЫТИЙ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257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Логи аварий, отключений, простоев. Подтверждение периодов, когда потребление объективно отсутствовало.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263640"/>
            <a:ext cx="10332720" cy="5029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63367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Процесс:  запрос РСО  →  формирование отчёта в SCADA  →  экспорт PDF/Excel  →  приложение к претензии / исковому заявлению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ИНТЕГРАЦИЯ С БУХГАЛТЕРИЕЙ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Сверка с ресурсоснабжающими организациями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606040" cy="28346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78D4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FA5E6"/>
                </a:solidFill>
                <a:latin typeface="Segoe UI Light"/>
              </a:defRPr>
            </a:pPr>
            <a:r>
              <a:t>СБОР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SCADA Server автоматически опрашивает приборы учёта и сохраняет значения тегов в PostgreSQL с привязкой к дате, времени и зоне объекта.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920240"/>
            <a:ext cx="2606040" cy="28346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78D4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FA5E6"/>
                </a:solidFill>
                <a:latin typeface="Segoe UI Light"/>
              </a:defRPr>
            </a:pPr>
            <a:r>
              <a:t>ФОРМИРОВАНИЕ ОТЧЁТА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51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Бухгалтер или энергоменеджер запускает шаблон «Значения тегов» с группировкой по месяцам и фильтром по нужным приборам учёта.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20240"/>
            <a:ext cx="2606040" cy="28346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78D4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FA5E6"/>
                </a:solidFill>
                <a:latin typeface="Segoe UI Light"/>
              </a:defRPr>
            </a:pPr>
            <a:r>
              <a:t>АГРЕГАЦИЯ И ЭКСПОРТ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t>Функция Sum() и итоги по группам формируют суммарные значения. Экспорт в Excel для сверки с актами РСО, в PDF — для архива.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920240"/>
            <a:ext cx="2606040" cy="28346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39" y="2057400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78D4"/>
                </a:solidFill>
                <a:latin typeface="Segoe UI Light"/>
              </a:defRPr>
            </a:pPr>
            <a:r>
              <a:rPr dirty="0"/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19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FA5E6"/>
                </a:solidFill>
                <a:latin typeface="Segoe UI Light"/>
              </a:defRPr>
            </a:pPr>
            <a:r>
              <a:t>СВЕРКА С РСО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6517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Segoe UI Light"/>
              </a:defRPr>
            </a:pPr>
            <a:r>
              <a:rPr dirty="0" err="1"/>
              <a:t>Построчное</a:t>
            </a:r>
            <a:r>
              <a:rPr dirty="0"/>
              <a:t>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SCADA с </a:t>
            </a:r>
            <a:r>
              <a:rPr dirty="0" err="1"/>
              <a:t>актами</a:t>
            </a:r>
            <a:r>
              <a:rPr dirty="0"/>
              <a:t> </a:t>
            </a:r>
            <a:r>
              <a:rPr dirty="0" err="1"/>
              <a:t>ресурсоснабжающих</a:t>
            </a:r>
            <a:r>
              <a:rPr dirty="0"/>
              <a:t> </a:t>
            </a:r>
            <a:r>
              <a:rPr dirty="0" err="1"/>
              <a:t>компаний</a:t>
            </a:r>
            <a:r>
              <a:rPr dirty="0"/>
              <a:t>. </a:t>
            </a:r>
            <a:r>
              <a:rPr dirty="0" err="1"/>
              <a:t>Выявление</a:t>
            </a:r>
            <a:r>
              <a:rPr dirty="0"/>
              <a:t> </a:t>
            </a:r>
            <a:r>
              <a:rPr dirty="0" err="1"/>
              <a:t>расхождений</a:t>
            </a:r>
            <a:r>
              <a:rPr dirty="0"/>
              <a:t>, </a:t>
            </a:r>
            <a:r>
              <a:rPr dirty="0" err="1"/>
              <a:t>формирование</a:t>
            </a:r>
            <a:r>
              <a:rPr dirty="0"/>
              <a:t> </a:t>
            </a:r>
            <a:r>
              <a:rPr dirty="0" err="1"/>
              <a:t>претензии</a:t>
            </a:r>
            <a:r>
              <a:rPr dirty="0"/>
              <a:t> с </a:t>
            </a:r>
            <a:r>
              <a:rPr dirty="0" err="1"/>
              <a:t>приложением</a:t>
            </a:r>
            <a:r>
              <a:rPr dirty="0"/>
              <a:t> </a:t>
            </a:r>
            <a:r>
              <a:rPr dirty="0" err="1"/>
              <a:t>отчёта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983480"/>
            <a:ext cx="10332720" cy="155448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983480"/>
            <a:ext cx="36576" cy="1554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ФОРМАТЫ ПЕРЕДАЧИ В БУХГАЛТЕРИЮ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Segoe UI Light"/>
              </a:defRPr>
            </a:pPr>
            <a:r>
              <a:t>Excel (.xls)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 Light"/>
              </a:defRPr>
            </a:pPr>
            <a:r>
              <a:t>Основной формат для сверки. Структурированные таблицы с группировкой и итогами. Совместим с 1С и SAP.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Segoe UI Light"/>
              </a:defRPr>
            </a:pPr>
            <a:r>
              <a:t>PDF (.pdf)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 Light"/>
              </a:defRPr>
            </a:pPr>
            <a:r>
              <a:t>Формат для архива и официальных документов. Не редактируется, поддерживает подписи и шифрование. Юридическая значимость.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Segoe UI Light"/>
              </a:defRPr>
            </a:pPr>
            <a:r>
              <a:t>CSV / JSON / XML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 Light"/>
              </a:defRPr>
            </a:pPr>
            <a:r>
              <a:t>Машиночитаемые форматы для автоматической загрузки в учётные системы и ERP. Интеграция через REST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  <a:latin typeface="Segoe UI Light"/>
              </a:defRPr>
            </a:pPr>
            <a:r>
              <a:t>HTML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760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 Light"/>
              </a:defRPr>
            </a:pPr>
            <a:r>
              <a:t>Интерактивные отчёты для внутреннего портала. Просмотр в браузере без дополнительного ПО.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ТЕХНИЧЕСКИЕ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Платформы, источники данных, форматы экспорта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29184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6576" cy="4206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ПЛАТФОРМЫ РАЗВЁРТЫВАНИЯ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0F0F0"/>
                </a:solidFill>
                <a:latin typeface="Segoe UI Light"/>
              </a:defRPr>
            </a:pPr>
            <a:r>
              <a:t>›  Windows (x86/x64)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Linux (Debian 12, iRidi Server)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iRidi SCADA-BMS Сервер кластера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Node.js — серверная генерация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Браузер — веб-интерфейс дизайнера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Electron — настольный дизайнер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Сервис устанавливается на одном устройстве со SCADA Server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PostgreSQL — может быть удалённой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36576" cy="4206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ИСТОЧНИКИ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0F0F0"/>
                </a:solidFill>
                <a:latin typeface="Segoe UI Light"/>
              </a:defRPr>
            </a:pPr>
            <a:r>
              <a:t>›  PostgreSQL — основная БД SCADA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MS SQL, MySQL, Oracle, Firebird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Mongo DB, SQLite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OData (все стандартные типы)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REST API — внешние сервисы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JSON, XML, CSV, Excel файлы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ODBC / PDO — любые СУБД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Теги SCADA: значения и события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20240"/>
            <a:ext cx="3291840" cy="4206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920240"/>
            <a:ext cx="36576" cy="42062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A5E6"/>
                </a:solidFill>
                <a:latin typeface="Segoe UI Light"/>
              </a:defRPr>
            </a:pPr>
            <a:r>
              <a:t>ФОРМАТЫ ЭКСПОРТА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0F0F0"/>
                </a:solidFill>
                <a:latin typeface="Segoe UI Light"/>
              </a:defRPr>
            </a:pPr>
            <a:r>
              <a:t>›  PDF — с поддержкой подписей, PDF/A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Excel (.xls) — для 1С и сверок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Word (.doc) — текстовые документы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HTML — веб-представление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CSV — для импорта в ERP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JSON / XML — для интеграций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SVG / PNG / TIFF — графика</a:t>
            </a:r>
          </a:p>
          <a:p>
            <a:pPr>
              <a:spcAft>
                <a:spcPts val="600"/>
              </a:spcAft>
              <a:defRPr sz="1100">
                <a:solidFill>
                  <a:srgbClr val="F0F0F0"/>
                </a:solidFill>
                <a:latin typeface="Segoe UI Light"/>
              </a:defRPr>
            </a:pPr>
            <a:r>
              <a:t>›  RTF, DBF, ODS и другие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6263640"/>
            <a:ext cx="10332720" cy="50292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63367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ИИ-ассистент в дизайнере: автоматическая проверка соединений к БД, анализ выражений, конвертация сценариев Blockly, исправление кода.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A5E6"/>
                </a:solidFill>
                <a:latin typeface="Segoe UI Light"/>
              </a:defRPr>
            </a:pPr>
            <a: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0F0F0"/>
                </a:solidFill>
                <a:latin typeface="Segoe UI Light"/>
              </a:defRPr>
            </a:pPr>
            <a:r>
              <a:t>Система отчётов iRidi SCADA-BMS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22860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32720" cy="777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8D4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514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Прозрачность эксплуатации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1460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Полная фиксация всех событий инженерных систем с точностью до секунды. Данные невозможно подделать или оспорить — они хранятся в PostgreSQL.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10332720" cy="777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8D4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832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Экономическая эффективность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79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Снижение затрат на энергоресурсы на 15–25%, сокращение трудозатрат на отчётность на 30–50%, возврат переплат при спорах с РСО.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0332720" cy="777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8D4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51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Юридическая защита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519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Отчёты в PDF с метаданными — доказательная база в спорах с ресурсоснабжающими организациями, приложения к претензиям и исковым заявлениям.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79"/>
            <a:ext cx="10332720" cy="777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8D4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20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Интеграция без программистов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12064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Веб-интерфейс дизайнера, готовые шаблоны, экспорт во все популярные форматы. Бухгалтерия получает документы без привлечения IT-отдела.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52160"/>
            <a:ext cx="10332720" cy="777240"/>
          </a:xfrm>
          <a:prstGeom prst="round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989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8D4"/>
                </a:solidFill>
                <a:latin typeface="Segoe UI Light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989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Segoe UI Light"/>
              </a:defRPr>
            </a:pPr>
            <a:r>
              <a:t>Отсутствие дополнительных затрат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9893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Segoe UI Light"/>
              </a:defRPr>
            </a:pPr>
            <a:r>
              <a:t>Модуль входит в стандартную поставку iRidi SCADA-BMS. Лицензия Stimulsoft — royalty-free, без отчислений за каждого пользователя или отчёт.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Segoe UI Light"/>
              </a:defRPr>
            </a:pPr>
            <a:r>
              <a:t>iRidi SCADA-BMS  ·  Stimulsoft Reports Engine  ·  devbms.iridi.com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1414</Words>
  <Application>Microsoft Office PowerPoint</Application>
  <PresentationFormat>Широкоэкранный</PresentationFormat>
  <Paragraphs>160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iRidi0903</cp:lastModifiedBy>
  <cp:revision>3</cp:revision>
  <dcterms:created xsi:type="dcterms:W3CDTF">2013-01-27T09:14:16Z</dcterms:created>
  <dcterms:modified xsi:type="dcterms:W3CDTF">2026-07-08T11:50:03Z</dcterms:modified>
  <cp:category/>
</cp:coreProperties>
</file>