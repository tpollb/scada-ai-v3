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>
                <a:solidFill>
                  <a:srgbClr val="F1F5F9"/>
                </a:solidFill>
                <a:latin typeface="Segoe UI Light"/>
              </a:rPr>
              <a:t>SCADA.AI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199" y="3264408"/>
            <a:ext cx="2133295" cy="1828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1F5F9"/>
                </a:solidFill>
                <a:latin typeface="Segoe UI Light"/>
              </a:rPr>
              <a:t>Ценовая стратегия и модель монетизации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389120"/>
            <a:ext cx="67052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0" y="4526280"/>
            <a:ext cx="6156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1F5F9"/>
                </a:solidFill>
                <a:latin typeface="Segoe UI Light"/>
              </a:rPr>
              <a:t>Внутренний документ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 Light"/>
              </a:rPr>
              <a:t>АО ИРИДИЙ БМС   |   Июль 2026   |   Версия 3.2.9.1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Три тарифных плана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Сегментация по потребностям и бюджетам клиентов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657600" cy="4846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Segoe UI Semibold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Segoe UI Light"/>
              </a:rPr>
              <a:t>Базовое здоровье здания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310896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Segoe UI Light"/>
              </a:rPr>
              <a:t>2 500 — 5 000 тегов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310896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1821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Segoe UI Light"/>
              </a:rPr>
              <a:t>60 000 — 90 000 ₽/мес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Мониторинг параметров среды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245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Статус оборудования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085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Базовые алерты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9262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Тренды и экспорт данных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463040"/>
            <a:ext cx="3657600" cy="4846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51960" y="1463040"/>
            <a:ext cx="3657600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40AF"/>
                </a:solidFill>
                <a:latin typeface="Segoe UI Semibold"/>
              </a:rPr>
              <a:t>PROFESSIONAL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Segoe UI Light"/>
              </a:rPr>
              <a:t>Аналитика и диагностика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2560320"/>
            <a:ext cx="310896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Segoe UI Light"/>
              </a:rPr>
              <a:t>15 000 — 50 000 тегов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108960"/>
            <a:ext cx="310896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80" y="31821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Segoe UI Light"/>
              </a:rPr>
              <a:t>300 000 — 750 000 ₽/мес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Всё из Starter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2245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Глубокая диагностика (DDA)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6085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A/B анализ и сезонность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99262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LLM-интерпретация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1463040"/>
            <a:ext cx="3657600" cy="4846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8160" y="1463040"/>
            <a:ext cx="3657600" cy="73152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3816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81C87"/>
                </a:solidFill>
                <a:latin typeface="Segoe UI Semibold"/>
              </a:rPr>
              <a:t>ENTERPRISE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Segoe UI Light"/>
              </a:rPr>
              <a:t>Максимальная ценность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2560320"/>
            <a:ext cx="310896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0" y="2697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Segoe UI Light"/>
              </a:rPr>
              <a:t>150 000+ тегов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3108960"/>
            <a:ext cx="310896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0" y="31821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Segoe UI Light"/>
              </a:rPr>
              <a:t>от 1 800 000 ₽/мес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Всё из Professional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2245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On-premise LLM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6085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Custom ML модели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99262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Мульти-объекты и SLA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Тариф Starter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Базовое решение для малого и среднего сегмента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669280" cy="4846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Включено в тариф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Health Score здания (комплексная оценка 0-100)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243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Мониторинг 5 параметров: CO2, VOC, температура, влажность, давление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40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Статус оборудования: online / offline / stuck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83863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Простые алерты по email и telegram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1363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Тренды за 7 / 30 / 90 дней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Экспорт данных в CSV и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731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Базовый дашборд с ключевыми метриками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029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1 пользователь с правами администратора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5333695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73152" cy="2103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Ценообразование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1031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2 500 тегов:  60 000 ₽/мес  |  612 000 ₽/год
5 000 тегов:  90 000 ₽/мес  |  918 000 ₽/год
Маржа: 20-25%   |   Окупаемость для клиента: 6-8 мес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749039"/>
            <a:ext cx="5333695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3749039"/>
            <a:ext cx="73152" cy="2560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Целевые сегменты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Образовательные учреждения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F766E"/>
                </a:solidFill>
                <a:latin typeface="Segoe UI Light"/>
              </a:rPr>
              <a:t>40 000 — 60 000 ₽/мес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Медицинские учреждения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F766E"/>
                </a:solidFill>
                <a:latin typeface="Segoe UI Light"/>
              </a:rPr>
              <a:t>60 000 — 90 000 ₽/мес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Офисные здания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F766E"/>
                </a:solidFill>
                <a:latin typeface="Segoe UI Light"/>
              </a:rPr>
              <a:t>50 000 — 70 000 ₽/мес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715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Торговые центры (малые)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5715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F766E"/>
                </a:solidFill>
                <a:latin typeface="Segoe UI Light"/>
              </a:rPr>
              <a:t>70 000 — 90 000 ₽/мес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Тариф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Расширенная аналитика для требовательных клиентов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669280" cy="4846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Всё из Starter, плюс: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Deep Diagnostic Analysis (DDA)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Детекция аномалий (алгоритм Isolation Forest)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626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Анализ сезонности через быстрое преобразование Фурье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467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A/B анализ: сравнение периодов, оценка изменений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0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LLM-интерпретация результатов (YandexGPT)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Корреляционный анализ между тегами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98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Прогнозирование трендов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828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До 5 пользователей с различными ролями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669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API доступ для интеграции с внешними системами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509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Формирование отчётов в PDF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463040"/>
            <a:ext cx="5333695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1463040"/>
            <a:ext cx="73152" cy="2103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Ценообразование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1031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15 000 тегов:  300 000 ₽/мес  |  3 060 000 ₽/год
50 000 тегов:  750 000 ₽/мес  |  7 650 000 ₽/год
Маржа: 22-28%   |   Окупаемость для клиента: 4-6 мес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749039"/>
            <a:ext cx="5333695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3749039"/>
            <a:ext cx="73152" cy="2560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Целевые сегменты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Центры обработки данных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E40AF"/>
                </a:solidFill>
                <a:latin typeface="Segoe UI Light"/>
              </a:rPr>
              <a:t>300 000 — 500 000 ₽/мес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Средние производства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E40AF"/>
                </a:solidFill>
                <a:latin typeface="Segoe UI Light"/>
              </a:rPr>
              <a:t>300 000 — 500 000 ₽/мес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Сети торговых центров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E40AF"/>
                </a:solidFill>
                <a:latin typeface="Segoe UI Light"/>
              </a:rPr>
              <a:t>500 000 — 750 000 ₽/мес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715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Гостиничные комплексы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5715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E40AF"/>
                </a:solidFill>
                <a:latin typeface="Segoe UI Light"/>
              </a:rPr>
              <a:t>200 000 — 350 000 ₽/мес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Тариф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Долгосрочная цель на 2-3 года, не на первый год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669280" cy="4846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Всё из Professional, плюс: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On-premise развёртывание LLM (без зависимости от внешних 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Разработка custom ML моделей под специфику клиента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626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Мульти-объектная архитектура (неограниченно)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467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Неограниченное количество пользователей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0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Priority support с SLA 4 часа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Выделенный Customer Success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98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Индивидуальные интеграции с ERP и 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828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White-label решение (собственный брендинг)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669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Ежеквартальные бизнес-обзоры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509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Влияние на дорожную карту продукта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463040"/>
            <a:ext cx="5333695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1463040"/>
            <a:ext cx="73152" cy="2103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Ценообразование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1031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150 000 тегов:  1 800 000 ₽/мес  |  18 360 000 ₽/год
150 000+ тегов:  по запросу (от 3 000 000 ₽/мес)
Маржа: 70-85% (on-premise)   |   Окупаемость: 2-3 мес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749039"/>
            <a:ext cx="5333695" cy="2560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3749039"/>
            <a:ext cx="73152" cy="2560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5309"/>
                </a:solidFill>
                <a:latin typeface="Segoe UI Semibold"/>
              </a:rPr>
              <a:t>Реалистичные ожидания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3891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Текущий портфель SCADA: 0 клиентов Enterprise
уровня. Первый Enterprise клиент — это цель
на 2-3 года работы, не на первый.
Целевые сегменты (долгосрочно):
—  Крупные промышленные предприятия
—  Объекты энергетики
—  Сети распределённых объектов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Дополнительные модули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Гибкая конфигурация под конкретные потребности клиента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2377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Модуль энергетики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Учёт потребления электроэнергии,
работа с тарифами, прогнозы
потребления на основе истории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46120"/>
            <a:ext cx="30175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+30 000 ₽/мес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54864" cy="2377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LLM-интерпретация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05740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194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Формирование нарративов на основе
YandexGPT с включёнными расходами
на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246120"/>
            <a:ext cx="30175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+40 000 ₽/мес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46304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463040"/>
            <a:ext cx="54864" cy="23774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1645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On-premise LLM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05740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2194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Локальная языковая модель,
независимость от внешних сервисов.
Требуется GPU-сервер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3246120"/>
            <a:ext cx="30175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+50 000 ₽/мес
+500 000 ₽ разово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069080"/>
            <a:ext cx="54864" cy="2377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251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Мульти-объекты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66344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48006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Управление до 5 объектов
в едином интерфейсе с
консолидированной отчётностью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852160"/>
            <a:ext cx="30175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897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+50% к базовому тарифу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406908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97680" y="4069080"/>
            <a:ext cx="54864" cy="2377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0" y="4251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White-label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466344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0" y="48006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Собственный брендинг интерфейса,
корпоративные цвета, логотип,
собственный домен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852160"/>
            <a:ext cx="30175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0" y="5897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+20% к базовому тарифу
+100 000 ₽ разово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406908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38160" y="4069080"/>
            <a:ext cx="54864" cy="23774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4251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Priority Support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466344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0" y="48006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Гарантированное время реакции
4 часа, выделенный инженер,
прямая линия поддержки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5852160"/>
            <a:ext cx="30175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12480" y="5897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+100 000 ₽/мес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848</Words>
  <Application>Microsoft Office PowerPoint</Application>
  <PresentationFormat>Широкоэкранный</PresentationFormat>
  <Paragraphs>118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Segoe UI Light</vt:lpstr>
      <vt:lpstr>Segoe UI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iRidi0903</cp:lastModifiedBy>
  <cp:revision>2</cp:revision>
  <dcterms:created xsi:type="dcterms:W3CDTF">2013-01-27T09:14:16Z</dcterms:created>
  <dcterms:modified xsi:type="dcterms:W3CDTF">2026-07-10T05:36:28Z</dcterms:modified>
  <cp:category/>
</cp:coreProperties>
</file>