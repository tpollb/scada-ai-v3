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dirty="0">
                <a:solidFill>
                  <a:srgbClr val="F1F5F9"/>
                </a:solidFill>
                <a:latin typeface="Segoe UI Light"/>
              </a:rPr>
              <a:t>SCADA.AI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73552"/>
            <a:ext cx="2133295" cy="1828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1F5F9"/>
                </a:solidFill>
                <a:latin typeface="Segoe UI Light"/>
              </a:rPr>
              <a:t>Ценовая стратегия и модель монетизации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389120"/>
            <a:ext cx="6705295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0" y="4526280"/>
            <a:ext cx="6156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1F5F9"/>
                </a:solidFill>
                <a:latin typeface="Segoe UI Light"/>
              </a:rPr>
              <a:t>Переход от продажи тегов к продаже ценности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 Light"/>
              </a:rPr>
              <a:t>АО ИРИДИЙ БМС   |   Июль 2026   |   Версия 3.2.9.1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1F5F9"/>
                </a:solidFill>
                <a:latin typeface="Segoe UI Light"/>
              </a:rPr>
              <a:t>Повестка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E40AF"/>
                </a:solidFill>
                <a:latin typeface="Segoe UI Ligh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 Semibold"/>
              </a:rPr>
              <a:t>Проблема текущей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7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Почему существующий подход не масштабируется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539496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E40AF"/>
                </a:solidFill>
                <a:latin typeface="Segoe UI Ligh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 Semibold"/>
              </a:rPr>
              <a:t>Рынок IIoT SaaS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87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Тренды и возможности подписочной модели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331720"/>
            <a:ext cx="539496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E40AF"/>
                </a:solidFill>
                <a:latin typeface="Segoe UI Ligh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 Semibold"/>
              </a:rPr>
              <a:t>Предлагаемая структура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Три тарифных плана и дополнительные модули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91840"/>
            <a:ext cx="539496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42316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E40AF"/>
                </a:solidFill>
                <a:latin typeface="Segoe UI Light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 Semibold"/>
              </a:rPr>
              <a:t>Детализация тарифов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Starter, Professional, Enterprise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291840"/>
            <a:ext cx="539496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3832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E40AF"/>
                </a:solidFill>
                <a:latin typeface="Segoe UI Light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 Semibold"/>
              </a:rPr>
              <a:t>Дополнительные модули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Add-ons и разовые услуги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51960"/>
            <a:ext cx="539496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33832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E40AF"/>
                </a:solidFill>
                <a:latin typeface="Segoe UI Light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 Semibold"/>
              </a:rPr>
              <a:t>Unit-экономика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Маржинальность и срок окупаемости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251960"/>
            <a:ext cx="539496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34340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E40AF"/>
                </a:solidFill>
                <a:latin typeface="Segoe UI Light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 Semibold"/>
              </a:rPr>
              <a:t>Финансовая модель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Цели на первый год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212080"/>
            <a:ext cx="539496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434340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E40AF"/>
                </a:solidFill>
                <a:latin typeface="Segoe UI Light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 Semibold"/>
              </a:rPr>
              <a:t>Дорожная карта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Этапы запуска и масштабирования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212080"/>
            <a:ext cx="539496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530352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E40AF"/>
                </a:solidFill>
                <a:latin typeface="Segoe UI Light"/>
              </a:rPr>
              <a:t>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 Semibold"/>
              </a:rPr>
              <a:t>Конкурентные преимущества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715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Почему клиенты выберут нас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6172200"/>
            <a:ext cx="539496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530352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E40AF"/>
                </a:solidFill>
                <a:latin typeface="Segoe UI Light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 Semibold"/>
              </a:rPr>
              <a:t>Следующие шаги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715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Конкретные решения и сроки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6172200"/>
            <a:ext cx="539496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 Light"/>
              </a:rPr>
              <a:t>АО ИРИДИЙ БМС  |  Июль 2026  |  SCADA.AI v3.2.9.1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1F5F9"/>
                </a:solidFill>
                <a:latin typeface="Segoe UI Light"/>
              </a:rPr>
              <a:t>01  Проблема текущей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 Light"/>
              </a:rPr>
              <a:t>Три ключевых ограничения для масштабирования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566160" cy="457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40AF"/>
                </a:solidFill>
                <a:latin typeface="Segoe UI Ligh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Отсутствие прозрачной модели ценообразования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301752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 Light"/>
              </a:rPr>
              <a:t>Нет чёткой связи между количеством тегов,
функционалом и стоимостью. Клиент не понимает
за что платит и как масштабировать решение.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566160" cy="457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40AF"/>
                </a:solidFill>
                <a:latin typeface="Segoe UI Ligh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Себестоимость растёт быстрее выручки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377440"/>
            <a:ext cx="301752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5603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 Light"/>
              </a:rPr>
              <a:t>Расходы на API внешних LLM-сервисов составляют
значительную часть себестоимости. На крупных
клиентах это приводит к снижению маржи.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566160" cy="457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40AF"/>
                </a:solidFill>
                <a:latin typeface="Segoe UI Light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Отсутствие сегментации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377440"/>
            <a:ext cx="301752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25603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egoe UI Light"/>
              </a:rPr>
              <a:t>Один продукт для всех сегментов — от школ
до промышленных предприятий. Разные клиенты
имеют разные потребности и бюджеты.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281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1F5F9"/>
                </a:solidFill>
                <a:latin typeface="Segoe UI Light"/>
              </a:rPr>
              <a:t>Решение: SaaS-модель с тарифными планами и гибкими дополнительными модулями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 Light"/>
              </a:rPr>
              <a:t>АО ИРИДИЙ БМС  |  Июль 2026  |  SCADA.AI v3.2.9.1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1F5F9"/>
                </a:solidFill>
                <a:latin typeface="Segoe UI Light"/>
              </a:rPr>
              <a:t>02  Рынок IIoT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 Light"/>
              </a:rPr>
              <a:t>Переход на подписочную модель в индустрии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217920" cy="40661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1463040"/>
            <a:ext cx="4876495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0" y="16002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1E40AF"/>
                </a:solidFill>
                <a:latin typeface="Segoe UI Light"/>
              </a:rPr>
              <a:t>87%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6459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B2B компаний переходят
на подписочную модель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697480"/>
            <a:ext cx="4876495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0" y="28346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1E40AF"/>
                </a:solidFill>
                <a:latin typeface="Segoe UI Light"/>
              </a:rPr>
              <a:t>70%+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8803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Целевая маржа зрелых
SaaS-продуктов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3931920"/>
            <a:ext cx="4876495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0" y="40690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1E40AF"/>
                </a:solidFill>
                <a:latin typeface="Segoe UI Light"/>
              </a:rPr>
              <a:t>3-5 лет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41148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Средний жизненный цикл
клиента в IIoT сегменте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5166360"/>
            <a:ext cx="4876495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0" y="530352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1E40AF"/>
                </a:solidFill>
                <a:latin typeface="Segoe UI Light"/>
              </a:rPr>
              <a:t>85%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5349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Retention rate у продуктов
с правильной ценовой стратегией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 Light"/>
              </a:rPr>
              <a:t>АО ИРИДИЙ БМС  |  Июль 2026  |  SCADA.AI v3.2.9.1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1F5F9"/>
                </a:solidFill>
                <a:latin typeface="Segoe UI Light"/>
              </a:rPr>
              <a:t>03  Предлагаемая структура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 Light"/>
              </a:rPr>
              <a:t>Три тарифных плана для разных сегментов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657600" cy="4846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  <a:latin typeface="Segoe UI Semibold"/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Segoe UI Light"/>
              </a:rPr>
              <a:t>Базовое здоровье здания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310896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Segoe UI Light"/>
              </a:rPr>
              <a:t>2 500 — 5 000 тегов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310896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1821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Segoe UI Light"/>
              </a:rPr>
              <a:t>60 000 — 90 000 ₽/мес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Segoe UI Light"/>
              </a:rPr>
              <a:t>— Мониторинг параметров среды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Segoe UI Light"/>
              </a:rPr>
              <a:t>— Статус оборудования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Segoe UI Light"/>
              </a:rPr>
              <a:t>— Базовые алерты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Segoe UI Light"/>
              </a:rPr>
              <a:t>— Тренды и экспорт данных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463040"/>
            <a:ext cx="3657600" cy="4846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1463040"/>
            <a:ext cx="3657600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6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40AF"/>
                </a:solidFill>
                <a:latin typeface="Segoe UI Semibold"/>
              </a:rPr>
              <a:t>PROFESSIONAL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Segoe UI Light"/>
              </a:rPr>
              <a:t>Аналитика и диагностика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2560320"/>
            <a:ext cx="310896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26280" y="2697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Segoe UI Light"/>
              </a:rPr>
              <a:t>15 000 — 50 000 тегов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3108960"/>
            <a:ext cx="310896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80" y="31821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Segoe UI Light"/>
              </a:rPr>
              <a:t>300 000 — 750 000 ₽/мес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8404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Segoe UI Light"/>
              </a:rPr>
              <a:t>— Всё из Starter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Segoe UI Light"/>
              </a:rPr>
              <a:t>— Глубокая диагностика (DDA)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Segoe UI Light"/>
              </a:rPr>
              <a:t>— A/B анализ и сезонность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Segoe UI Light"/>
              </a:rPr>
              <a:t>— LLM-интерпретация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463040"/>
            <a:ext cx="3657600" cy="4846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38160" y="1463040"/>
            <a:ext cx="3657600" cy="73152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81C87"/>
                </a:solidFill>
                <a:latin typeface="Segoe UI Semibold"/>
              </a:rPr>
              <a:t>ENTERPRISE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Segoe UI Light"/>
              </a:rPr>
              <a:t>Максимальная ценность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2560320"/>
            <a:ext cx="310896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2697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72A"/>
                </a:solidFill>
                <a:latin typeface="Segoe UI Light"/>
              </a:rPr>
              <a:t>150 000+ тегов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3108960"/>
            <a:ext cx="310896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0" y="318211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Segoe UI Light"/>
              </a:rPr>
              <a:t>от 1 800 000 ₽/мес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8404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Segoe UI Light"/>
              </a:rPr>
              <a:t>— Всё из Professional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Segoe UI Light"/>
              </a:rPr>
              <a:t>— On-premise LLM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Segoe UI Light"/>
              </a:rPr>
              <a:t>— Custom ML модели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Segoe UI Light"/>
              </a:rPr>
              <a:t>— Мульти-объекты и SLA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 Light"/>
              </a:rPr>
              <a:t>АО ИРИДИЙ БМС  |  Июль 2026  |  SCADA.AI v3.2.9.1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1F5F9"/>
                </a:solidFill>
                <a:latin typeface="Segoe UI Light"/>
              </a:rPr>
              <a:t>04  Тариф Starter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 Light"/>
              </a:rPr>
              <a:t>Базовое решение для малого и среднего сегмента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669280" cy="4846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 Semibold"/>
              </a:rPr>
              <a:t>Включено в тариф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Health Score здания (комплексная оценка 0-100)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243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Мониторинг 5 параметров: CO2, VOC, температура, влажность, давление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40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Статус оборудования: online / offline / stuck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83863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Простые алерты по email и telegram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1363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Тренды за 7 / 30 / 90 дней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Экспорт данных в CSV и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731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Базовый дашборд с ключевыми метриками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029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1 пользователь с правами администратора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463040"/>
            <a:ext cx="5333695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73152" cy="2103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Ценообразование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1031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2 500 тегов:  60 000 ₽/мес  |  612 000 ₽/год
5 000 тегов:  90 000 ₽/мес  |  918 000 ₽/год
Маржа: 20-25%   |   Окупаемость: 6-8 мес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749039"/>
            <a:ext cx="5333695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3749039"/>
            <a:ext cx="73152" cy="2560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Целевые сегменты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Образовательные учреждения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F766E"/>
                </a:solidFill>
                <a:latin typeface="Segoe UI Light"/>
              </a:rPr>
              <a:t>40 000 — 60 000 ₽/мес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Медицинские учреждения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892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F766E"/>
                </a:solidFill>
                <a:latin typeface="Segoe UI Light"/>
              </a:rPr>
              <a:t>60 000 — 90 000 ₽/мес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Офисные здания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F766E"/>
                </a:solidFill>
                <a:latin typeface="Segoe UI Light"/>
              </a:rPr>
              <a:t>50 000 — 70 000 ₽/мес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715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Торговые центры (малые)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5715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F766E"/>
                </a:solidFill>
                <a:latin typeface="Segoe UI Light"/>
              </a:rPr>
              <a:t>70 000 — 90 000 ₽/мес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 Light"/>
              </a:rPr>
              <a:t>АО ИРИДИЙ БМС  |  Июль 2026  |  SCADA.AI v3.2.9.1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1F5F9"/>
                </a:solidFill>
                <a:latin typeface="Segoe UI Light"/>
              </a:rPr>
              <a:t>04  Тариф Professional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 Light"/>
              </a:rPr>
              <a:t>Расширенная аналитика для требовательных клиентов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669280" cy="4846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 Semibold"/>
              </a:rPr>
              <a:t>Всё из Starter, плюс: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Deep Diagnostic Analysis (DDA)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Детекция аномалий (алгоритм Isolation Forest)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626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Анализ сезонности через быстрое преобразование Фурье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467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A/B анализ: сравнение периодов, оценка изменений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30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LLM-интерпретация результатов (YandexGPT)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Корреляционный анализ между тегами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988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Прогнозирование трендов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828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До 5 пользователей с различными ролями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669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API доступ для интеграции с внешними системами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509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Формирование отчётов в PDF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463040"/>
            <a:ext cx="5333695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1463040"/>
            <a:ext cx="73152" cy="2103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Ценообразование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1031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15 000 тегов:  300 000 ₽/мес  |  3 060 000 ₽/год
50 000 тегов:  750 000 ₽/мес  |  7 650 000 ₽/год
Маржа: 22-28%   |   Окупаемость: 4-6 мес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749039"/>
            <a:ext cx="5333695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3749039"/>
            <a:ext cx="73152" cy="2560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Целевые сегменты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Центры обработки данных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E40AF"/>
                </a:solidFill>
                <a:latin typeface="Segoe UI Light"/>
              </a:rPr>
              <a:t>300 000 — 500 000 ₽/мес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Средние производства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892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E40AF"/>
                </a:solidFill>
                <a:latin typeface="Segoe UI Light"/>
              </a:rPr>
              <a:t>300 000 — 500 000 ₽/мес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Сети торговых центров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E40AF"/>
                </a:solidFill>
                <a:latin typeface="Segoe UI Light"/>
              </a:rPr>
              <a:t>500 000 — 750 000 ₽/мес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715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Гостиничные комплексы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5715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1E40AF"/>
                </a:solidFill>
                <a:latin typeface="Segoe UI Light"/>
              </a:rPr>
              <a:t>200 000 — 350 000 ₽/мес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 Light"/>
              </a:rPr>
              <a:t>АО ИРИДИЙ БМС  |  Июль 2026  |  SCADA.AI v3.2.9.1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1F5F9"/>
                </a:solidFill>
                <a:latin typeface="Segoe UI Light"/>
              </a:rPr>
              <a:t>04  Тариф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 Light"/>
              </a:rPr>
              <a:t>Решение для крупных промышленных клиентов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669280" cy="4846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 Semibold"/>
              </a:rPr>
              <a:t>Всё из Professional, плюс: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On-premise развёртывание LLM (без зависимости от внешних API)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Разработка custom ML моделей под специфику клиента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626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Мульти-объектная архитектура (неограниченно)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467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Неограниченное количество пользователей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30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Priority support с SLA 4 часа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Выделенный Customer Success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988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Индивидуальные интеграции с ERP и 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828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White-label решение (собственный брендинг)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669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Ежеквартальные бизнес-обзоры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509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Влияние на дорожную карту продукта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463040"/>
            <a:ext cx="5333695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1463040"/>
            <a:ext cx="73152" cy="2103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Ценообразование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1031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150 000 тегов:  1 800 000 ₽/мес  |  18 360 000 ₽/год
150 000+ тегов:  по запросу (от 3 000 000 ₽/мес)
Маржа: 70-85% (on-premise)   |   Окупаемость: 2-3 мес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749039"/>
            <a:ext cx="5333695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3749039"/>
            <a:ext cx="73152" cy="2560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Целевые сегменты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Крупные промышленные предприятия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81C87"/>
                </a:solidFill>
                <a:latin typeface="Segoe UI Light"/>
              </a:rPr>
              <a:t>1 800 000 — 3 000 000 ₽/мес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Объекты энергетики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892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81C87"/>
                </a:solidFill>
                <a:latin typeface="Segoe UI Light"/>
              </a:rPr>
              <a:t>2 000 000 — 5 000 000 ₽/мес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Государственные структуры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81C87"/>
                </a:solidFill>
                <a:latin typeface="Segoe UI Light"/>
              </a:rPr>
              <a:t>1 500 000 — 3 000 000 ₽/мес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715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Сети распределённых объектов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5715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81C87"/>
                </a:solidFill>
                <a:latin typeface="Segoe UI Light"/>
              </a:rPr>
              <a:t>3 000 000+ ₽/мес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 Light"/>
              </a:rPr>
              <a:t>АО ИРИДИЙ БМС  |  Июль 2026  |  SCADA.AI v3.2.9.1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1F5F9"/>
                </a:solidFill>
                <a:latin typeface="Segoe UI Light"/>
              </a:rPr>
              <a:t>05  Дополнительные модули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 Light"/>
              </a:rPr>
              <a:t>Гибкая конфигурация под конкретные потребности клиента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5661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2377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Модуль энергетики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301752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Учёт потребления электроэнергии,
работа с тарифами, прогнозы
потребления на основе истории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46120"/>
            <a:ext cx="30175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Segoe UI Light"/>
              </a:rPr>
              <a:t>+30 000 ₽/мес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5661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54864" cy="2377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645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LLM-интерпретация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057400"/>
            <a:ext cx="301752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1945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Формирование нарративов на основе
YandexGPT с включёнными расходами
на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3246120"/>
            <a:ext cx="30175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Segoe UI Light"/>
              </a:rPr>
              <a:t>+40 000 ₽/мес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463040"/>
            <a:ext cx="35661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1463040"/>
            <a:ext cx="54864" cy="23774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1645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On-premise LLM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2057400"/>
            <a:ext cx="301752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0" y="21945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Локальная языковая модель,
независимость от внешних сервисов.
Требуется GPU-сервер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3246120"/>
            <a:ext cx="30175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Segoe UI Light"/>
              </a:rPr>
              <a:t>+50 000 ₽/мес
+500 000 ₽ разово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69080"/>
            <a:ext cx="35661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069080"/>
            <a:ext cx="54864" cy="2377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251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Мульти-объекты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663440"/>
            <a:ext cx="301752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48006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Управление до 5 объектов
в едином интерфейсе с
консолидированной отчётностью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852160"/>
            <a:ext cx="30175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897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Segoe UI Light"/>
              </a:rPr>
              <a:t>+50% к базовому тарифу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4069080"/>
            <a:ext cx="35661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97680" y="4069080"/>
            <a:ext cx="54864" cy="2377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0" y="4251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White-label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4663440"/>
            <a:ext cx="301752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0" y="48006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Собственный брендинг интерфейса,
корпоративные цвета, логотип,
собственный домен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5852160"/>
            <a:ext cx="30175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0" y="5897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Segoe UI Light"/>
              </a:rPr>
              <a:t>+20% к базовому тарифу
+100 000 ₽ разово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4069080"/>
            <a:ext cx="35661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38160" y="4069080"/>
            <a:ext cx="54864" cy="23774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0" y="4251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Priority Support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4663440"/>
            <a:ext cx="301752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0" y="48006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Гарантированное время реакции
4 часа, выделенный инженер,
прямая линия поддержки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5852160"/>
            <a:ext cx="30175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12480" y="5897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Segoe UI Light"/>
              </a:rPr>
              <a:t>+100 000 ₽/мес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 Light"/>
              </a:rPr>
              <a:t>АО ИРИДИЙ БМС  |  Июль 2026  |  SCADA.AI v3.2.9.1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1F5F9"/>
                </a:solidFill>
                <a:latin typeface="Segoe UI Light"/>
              </a:rPr>
              <a:t>06  Unit-экономика по тарифам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 Light"/>
              </a:rPr>
              <a:t>Маржинальность и окупаемость клиентского портфеля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858000" cy="444730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0" y="1463040"/>
            <a:ext cx="4419295" cy="4846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0" y="1463040"/>
            <a:ext cx="73152" cy="4846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1645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 Semibold"/>
              </a:rPr>
              <a:t>Ключевые метрики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Средний чек (blended)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F172A"/>
                </a:solidFill>
                <a:latin typeface="Segoe UI Semibold"/>
              </a:rPr>
              <a:t>350 000 ₽/мес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2606040"/>
            <a:ext cx="3840480" cy="2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0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Валовая маржа (цель)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F172A"/>
                </a:solidFill>
                <a:latin typeface="Segoe UI Semibold"/>
              </a:rPr>
              <a:t>60-70%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3108960"/>
            <a:ext cx="3840480" cy="2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0" y="3200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Стоимость привлечения клиента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F172A"/>
                </a:solidFill>
                <a:latin typeface="Segoe UI Semibold"/>
              </a:rPr>
              <a:t>150 000 — 300 000 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3611880"/>
            <a:ext cx="3840480" cy="2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0" y="3703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LTV (3 года)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3703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F172A"/>
                </a:solidFill>
                <a:latin typeface="Segoe UI Semibold"/>
              </a:rPr>
              <a:t>12 600 000 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4114800"/>
            <a:ext cx="3840480" cy="2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0" y="4206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LTV : CAC 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F172A"/>
                </a:solidFill>
                <a:latin typeface="Segoe UI Semibold"/>
              </a:rPr>
              <a:t>42 :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4617720"/>
            <a:ext cx="3840480" cy="2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0" y="4709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Срок окупаемости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F172A"/>
                </a:solidFill>
                <a:latin typeface="Segoe UI Semibold"/>
              </a:rPr>
              <a:t>2-4 месяца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5120640"/>
            <a:ext cx="3840480" cy="2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Churn rate (целевой)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F172A"/>
                </a:solidFill>
                <a:latin typeface="Segoe UI Semibold"/>
              </a:rPr>
              <a:t>до 5% в год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5623560"/>
            <a:ext cx="3840480" cy="2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80960" y="5715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Net Revenue Retention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F172A"/>
                </a:solidFill>
                <a:latin typeface="Segoe UI Semibold"/>
              </a:rPr>
              <a:t>120%+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 Light"/>
              </a:rPr>
              <a:t>АО ИРИДИЙ БМС  |  Июль 2026  |  SCADA.AI v3.2.9.1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1F5F9"/>
                </a:solidFill>
                <a:latin typeface="Segoe UI Light"/>
              </a:rPr>
              <a:t>06  Структура себестоимости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 Light"/>
              </a:rPr>
              <a:t>Почему гибридная модель необходима для крупных клиентов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217920" cy="413342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0" y="1463040"/>
            <a:ext cx="4876495" cy="2194560"/>
          </a:xfrm>
          <a:prstGeom prst="rect">
            <a:avLst/>
          </a:prstGeom>
          <a:solidFill>
            <a:srgbClr val="FEE2E2"/>
          </a:solidFill>
          <a:ln w="127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0" y="1463040"/>
            <a:ext cx="73152" cy="219456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0" y="1645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91B1B"/>
                </a:solidFill>
                <a:latin typeface="Segoe UI Semibold"/>
              </a:rPr>
              <a:t>Проблема: Enterprise без on-premise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1031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При 150 000 тегах:
—  Расходы на API: 2 000 000 ₽/мес
—  Цена тарифа: 1 800 000 ₽/мес
—  Результат: убыток 200 000 ₽/мес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3840480"/>
            <a:ext cx="4876495" cy="2468880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0" y="3840480"/>
            <a:ext cx="73152" cy="24688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4023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803D"/>
                </a:solidFill>
                <a:latin typeface="Segoe UI Semibold"/>
              </a:rPr>
              <a:t>Решение: гибридная модель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8056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Starter / Professional — облачный API:
—  Быстрый старт без капитальных затрат
—  Маржа 20-28%
Enterprise — on-premise LLM:
—  Разовая инвестиция ~2 млн ₽ в GPU
—  Маржа 80%+ через 6 месяцев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 Light"/>
              </a:rPr>
              <a:t>АО ИРИДИЙ БМС  |  Июль 2026  |  SCADA.AI v3.2.9.1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1F5F9"/>
                </a:solidFill>
                <a:latin typeface="Segoe UI Light"/>
              </a:rPr>
              <a:t>07  Финансовая модель: Год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 Light"/>
              </a:rPr>
              <a:t>Цель — 20 клиентов, 97 млн ₽ годовой выручки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669280" cy="4846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 Semibold"/>
              </a:rPr>
              <a:t>Структура клиентского портфеля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Segoe UI Semibold"/>
              </a:rPr>
              <a:t>Тариф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Segoe UI Semibold"/>
              </a:rPr>
              <a:t>Количество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Segoe UI Semibold"/>
              </a:rPr>
              <a:t>Цена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860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75569"/>
                </a:solidFill>
                <a:latin typeface="Segoe UI Semibold"/>
              </a:rPr>
              <a:t>MRR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606040"/>
            <a:ext cx="5120640" cy="2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Segoe UI Semibold"/>
              </a:rPr>
              <a:t>Starter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10 клиентов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743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× 60 000 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7432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F172A"/>
                </a:solidFill>
                <a:latin typeface="Segoe UI Semibold"/>
              </a:rPr>
              <a:t>600 000 ₽/мес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29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40AF"/>
                </a:solidFill>
                <a:latin typeface="Segoe UI Semibold"/>
              </a:rPr>
              <a:t>Professional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429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7 клиентов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429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× 300 000 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4290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F172A"/>
                </a:solidFill>
                <a:latin typeface="Segoe UI Semibold"/>
              </a:rPr>
              <a:t>2 100 000 ₽/мес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1C87"/>
                </a:solidFill>
                <a:latin typeface="Segoe UI Semibold"/>
              </a:rPr>
              <a:t>Enterprise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114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Segoe UI Light"/>
              </a:rPr>
              <a:t>3 клиента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114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× 1 800 000 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114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F172A"/>
                </a:solidFill>
                <a:latin typeface="Segoe UI Semibold"/>
              </a:rPr>
              <a:t>5 400 000 ₽/мес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846320"/>
            <a:ext cx="5120640" cy="2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" y="4983480"/>
            <a:ext cx="512064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Segoe UI Light"/>
              </a:rPr>
              <a:t>ИТОГО MRR: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120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1F5F9"/>
                </a:solidFill>
                <a:latin typeface="Segoe UI Semibold"/>
              </a:rPr>
              <a:t>8 100 000 ₽/мес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532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 Light"/>
              </a:rPr>
              <a:t>Годовая выручка (ARR): 97 200 000 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463040"/>
            <a:ext cx="5333695" cy="4846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0" y="1463040"/>
            <a:ext cx="73152" cy="4846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6656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 Semibold"/>
              </a:rPr>
              <a:t>Структура P&amp;L — Год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 Light"/>
              </a:rPr>
              <a:t>Выручка (ARR)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2286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5803D"/>
                </a:solidFill>
                <a:latin typeface="Segoe UI Light"/>
              </a:rPr>
              <a:t>+97.2 млн 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27706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Segoe UI Light"/>
              </a:rPr>
              <a:t>Расходы: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7706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66560" y="311810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   Внешние API (Yandex)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3118103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1B1B"/>
                </a:solidFill>
                <a:latin typeface="Segoe UI Light"/>
              </a:rPr>
              <a:t>−32.0 млн 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3465575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   Инфраструктура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3465575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1B1B"/>
                </a:solidFill>
                <a:latin typeface="Segoe UI Light"/>
              </a:rPr>
              <a:t>−3.5 млн 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3813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   Команда поддержки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38130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1B1B"/>
                </a:solidFill>
                <a:latin typeface="Segoe UI Light"/>
              </a:rPr>
              <a:t>−8.0 млн 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160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   Продажи и маркетинг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1B1B"/>
                </a:solidFill>
                <a:latin typeface="Segoe UI Light"/>
              </a:rPr>
              <a:t>−12.0 млн 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45079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   Разработка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45079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1B1B"/>
                </a:solidFill>
                <a:latin typeface="Segoe UI Light"/>
              </a:rPr>
              <a:t>−15.0 млн 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855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   Прочие операционные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48554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1B1B"/>
                </a:solidFill>
                <a:latin typeface="Segoe UI Light"/>
              </a:rPr>
              <a:t>−5.0 млн 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53400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Segoe UI Light"/>
              </a:rPr>
              <a:t>Итого расходов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6960" y="53400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F172A"/>
                </a:solidFill>
                <a:latin typeface="Segoe UI Light"/>
              </a:rPr>
              <a:t>−75.5 млн ₽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5577840"/>
            <a:ext cx="493776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58000" y="5669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Segoe UI Light"/>
              </a:rPr>
              <a:t>EBITDA (прогноз)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5669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1F5F9"/>
                </a:solidFill>
                <a:latin typeface="Segoe UI Semibold"/>
              </a:rPr>
              <a:t>≈ 22 млн 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 Light"/>
              </a:rPr>
              <a:t>АО ИРИДИЙ БМС  |  Июль 2026  |  SCADA.AI v3.2.9.1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1F5F9"/>
                </a:solidFill>
                <a:latin typeface="Segoe UI Light"/>
              </a:rPr>
              <a:t>08  Дорожная карта запуска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 Light"/>
              </a:rPr>
              <a:t>Четыре этапа от пилотных клиентов до масштабирования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74320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Segoe UI Light"/>
              </a:rPr>
              <a:t>МЕСЯЦЫ 1-2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65960"/>
            <a:ext cx="2743200" cy="411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766E"/>
                </a:solidFill>
                <a:latin typeface="Segoe UI Semibold"/>
              </a:rPr>
              <a:t>Пилотные проекты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2194560" cy="2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5 первых клиентов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Скидка 50% за обратную связь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Формирование кейсов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Отладка процесса онбординга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029200"/>
            <a:ext cx="237744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51023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1F5F9"/>
                </a:solidFill>
                <a:latin typeface="Segoe UI Light"/>
              </a:rPr>
              <a:t>Product-market fit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463040"/>
            <a:ext cx="27432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9184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Segoe UI Light"/>
              </a:rPr>
              <a:t>МЕСЯЦЫ 3-6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965960"/>
            <a:ext cx="2743200" cy="411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9184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40AF"/>
                </a:solidFill>
                <a:latin typeface="Segoe UI Semibold"/>
              </a:rPr>
              <a:t>Ранние продажи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2560320"/>
            <a:ext cx="2194560" cy="2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6616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Фокус на Starter и Professional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Целевые сегменты: школы, ЦОДы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20 активных клиентов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9776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Реферальная программа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5029200"/>
            <a:ext cx="237744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0" y="51023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1F5F9"/>
                </a:solidFill>
                <a:latin typeface="Segoe UI Light"/>
              </a:rPr>
              <a:t>MRR: 3 млн 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463040"/>
            <a:ext cx="2743200" cy="4572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Segoe UI Light"/>
              </a:rPr>
              <a:t>МЕСЯЦЫ 6-12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965960"/>
            <a:ext cx="2743200" cy="411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81C87"/>
                </a:solidFill>
                <a:latin typeface="Segoe UI Semibold"/>
              </a:rPr>
              <a:t>Масштабирование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560320"/>
            <a:ext cx="2194560" cy="2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Enterprise сегмент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On-premise LLM решение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Партнёрства с интеграторами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9776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Маркетинговые кампании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029200"/>
            <a:ext cx="237744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51023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1F5F9"/>
                </a:solidFill>
                <a:latin typeface="Segoe UI Light"/>
              </a:rPr>
              <a:t>MRR: 8 млн 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1463040"/>
            <a:ext cx="2743200" cy="4572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Segoe UI Light"/>
              </a:rPr>
              <a:t>МЕСЯЦ 12+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1965960"/>
            <a:ext cx="2743200" cy="411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45309"/>
                </a:solidFill>
                <a:latin typeface="Segoe UI Semibold"/>
              </a:rPr>
              <a:t>Экспансия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18320" y="2560320"/>
            <a:ext cx="2194560" cy="2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1832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Рынки СНГ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3154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Новые отраслевые вертикали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Международный SaaS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39776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Привлечение инвестиций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5029200"/>
            <a:ext cx="237744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26880" y="51023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1F5F9"/>
                </a:solidFill>
                <a:latin typeface="Segoe UI Light"/>
              </a:rPr>
              <a:t>MRR: 20+ млн 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 Light"/>
              </a:rPr>
              <a:t>АО ИРИДИЙ БМС  |  Июль 2026  |  SCADA.AI v3.2.9.1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1F5F9"/>
                </a:solidFill>
                <a:latin typeface="Segoe UI Light"/>
              </a:rPr>
              <a:t>09  Конкурентные преимущества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 Light"/>
              </a:rPr>
              <a:t>Почему клиенты выбирают SCADA.AI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5661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" cy="2377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 Semibold"/>
              </a:rPr>
              <a:t>01   Отраслевая экспертиза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301752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Глубокое понимание SCADA-систем и промышленных
процессов. Решения конкурентов общего назначения
не учитывают специфику отрасли.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5661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54864" cy="2377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 Semibold"/>
              </a:rPr>
              <a:t>02   LLM-интерпретация результатов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057400"/>
            <a:ext cx="301752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2402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Формирование объяснений и рекомендаций
на естественном языке. Уникальная возможность
для операторов без аналитической подготовки.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35661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463040"/>
            <a:ext cx="54864" cy="2377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645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 Semibold"/>
              </a:rPr>
              <a:t>03   Окупаемость за 3-6 месяцев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057400"/>
            <a:ext cx="301752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22402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Экономия на предотвращённых авариях
и оптимизации энергопотребления
превышает стоимость подписки в первый год.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69080"/>
            <a:ext cx="35661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069080"/>
            <a:ext cx="54864" cy="2377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 Semibold"/>
              </a:rPr>
              <a:t>04   Простая интеграция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663440"/>
            <a:ext cx="301752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8463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Подключение к существующей SCADA без
масштабной модернизации. Запуск решения
за 1-2 недели через конфигуратор.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4069080"/>
            <a:ext cx="35661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7680" y="4069080"/>
            <a:ext cx="54864" cy="2377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4251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 Semibold"/>
              </a:rPr>
              <a:t>05   Предиктивная аналитика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4663440"/>
            <a:ext cx="301752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48463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Прогнозирование отказов оборудования
за недели до события. Существующие решения
реагируют на уже произошедшие инциденты.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4069080"/>
            <a:ext cx="356616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38160" y="4069080"/>
            <a:ext cx="54864" cy="2377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0" y="4251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Segoe UI Semibold"/>
              </a:rPr>
              <a:t>06   Полная локализация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4663440"/>
            <a:ext cx="3017520" cy="457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0" y="48463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Segoe UI Light"/>
              </a:rPr>
              <a:t>Российская разработка, соответствие
требованиям 152-ФЗ. Работа без зависимости
от зарубежных сервисов и инфраструктуры.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 Light"/>
              </a:rPr>
              <a:t>АО ИРИДИЙ БМС  |  Июль 2026  |  SCADA.AI v3.2.9.1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dirty="0">
                <a:solidFill>
                  <a:srgbClr val="F1F5F9"/>
                </a:solidFill>
                <a:latin typeface="Segoe UI Light"/>
              </a:rPr>
              <a:t>10  </a:t>
            </a:r>
            <a:r>
              <a:rPr sz="2600" b="0" dirty="0" err="1">
                <a:solidFill>
                  <a:srgbClr val="F1F5F9"/>
                </a:solidFill>
                <a:latin typeface="Segoe UI Light"/>
              </a:rPr>
              <a:t>Следующие</a:t>
            </a:r>
            <a:r>
              <a:rPr sz="2600" b="0" dirty="0">
                <a:solidFill>
                  <a:srgbClr val="F1F5F9"/>
                </a:solidFill>
                <a:latin typeface="Segoe UI Light"/>
              </a:rPr>
              <a:t> </a:t>
            </a:r>
            <a:r>
              <a:rPr sz="2600" b="0" dirty="0" err="1">
                <a:solidFill>
                  <a:srgbClr val="F1F5F9"/>
                </a:solidFill>
                <a:latin typeface="Segoe UI Light"/>
              </a:rPr>
              <a:t>шаги</a:t>
            </a:r>
            <a:endParaRPr sz="2600" b="0" dirty="0">
              <a:solidFill>
                <a:srgbClr val="F1F5F9"/>
              </a:solidFill>
              <a:latin typeface="Segoe UI Ligh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 Light"/>
              </a:rPr>
              <a:t>Конкретные решения для запуска коммерческой деятельности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Segoe UI Light"/>
              </a:rPr>
              <a:t>НЕДЕЛЯ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2743200" cy="3383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45309"/>
                </a:solidFill>
                <a:latin typeface="Segoe UI Semibold"/>
              </a:rPr>
              <a:t>Утверждение стратегии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2194560" cy="2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Утвердить ценовую матрицу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Определить 5 пилотных клиентов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Согласовать бюджет на команду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463040"/>
            <a:ext cx="27432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Segoe UI Light"/>
              </a:rPr>
              <a:t>НЕДЕЛИ 2-3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1965960"/>
            <a:ext cx="2743200" cy="3383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40AF"/>
                </a:solidFill>
                <a:latin typeface="Segoe UI Semibold"/>
              </a:rPr>
              <a:t>Формирование команды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2560320"/>
            <a:ext cx="2194560" cy="2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Привлечь DevOps-инженера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Нанять Sales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Начать разработку установщика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463040"/>
            <a:ext cx="274320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Segoe UI Light"/>
              </a:rPr>
              <a:t>НЕДЕЛЯ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965960"/>
            <a:ext cx="2743200" cy="3383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766E"/>
                </a:solidFill>
                <a:latin typeface="Segoe UI Semibold"/>
              </a:rPr>
              <a:t>Первый пилот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560320"/>
            <a:ext cx="2194560" cy="2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Запуск с первым клиентом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Сбор обратной связи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Подготовка кейса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1463040"/>
            <a:ext cx="2743200" cy="4572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3544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F5F9"/>
                </a:solidFill>
                <a:latin typeface="Segoe UI Light"/>
              </a:rPr>
              <a:t>МЕСЯЦЫ 2-3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1965960"/>
            <a:ext cx="2743200" cy="3383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3544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81C87"/>
                </a:solidFill>
                <a:latin typeface="Segoe UI Semibold"/>
              </a:rPr>
              <a:t>Масштабирование пилотов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2560320"/>
            <a:ext cx="2194560" cy="2743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0976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5 активных пилотов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Отладка процесса онбординга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—  Подготовка публичного запуска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577840"/>
            <a:ext cx="11277295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5577840"/>
            <a:ext cx="73152" cy="10972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57150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Segoe UI Semibold"/>
              </a:rPr>
              <a:t>Ключевые решения, требующие утверждения: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0807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Segoe UI Light"/>
              </a:rPr>
              <a:t>1.  Ценовая матрица (три тарифа + дополнительные модули)     2.  Гибридная модель развёртывания (облачная + on-premise)     3.  Бюджет команды на 6 месяцев     4.  Список пилотных клиентов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Segoe UI Light"/>
              </a:rPr>
              <a:t>АО ИРИДИЙ БМС  |  Июль 2026  |  SCADA.AI v3.2.9.1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F1F5F9"/>
                </a:solidFill>
                <a:latin typeface="Segoe UI Light"/>
              </a:rPr>
              <a:t>SCADA.AI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841498"/>
            <a:ext cx="2133295" cy="1828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1F5F9"/>
                </a:solidFill>
                <a:latin typeface="Segoe UI Light"/>
              </a:rPr>
              <a:t>Обсуждение и вопросы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023360"/>
            <a:ext cx="237744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1F5F9"/>
                </a:solidFill>
                <a:latin typeface="Segoe UI Light"/>
              </a:rPr>
              <a:t>97 млн ₽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892040"/>
            <a:ext cx="1828800" cy="457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 Light"/>
              </a:rPr>
              <a:t>ARR в первый год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4023360"/>
            <a:ext cx="237744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4206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1F5F9"/>
                </a:solidFill>
                <a:latin typeface="Segoe UI Light"/>
              </a:rPr>
              <a:t>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40" y="4892040"/>
            <a:ext cx="1828800" cy="457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20" y="5029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 Light"/>
              </a:rPr>
              <a:t>клиентов в портфеле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023360"/>
            <a:ext cx="237744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4206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1F5F9"/>
                </a:solidFill>
                <a:latin typeface="Segoe UI Light"/>
              </a:rPr>
              <a:t>70%+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4892040"/>
            <a:ext cx="1828800" cy="457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5029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 Light"/>
              </a:rPr>
              <a:t>целевая маржа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4023360"/>
            <a:ext cx="237744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15400" y="4206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1F5F9"/>
                </a:solidFill>
                <a:latin typeface="Segoe UI Light"/>
              </a:rPr>
              <a:t>3-6 мес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4892040"/>
            <a:ext cx="1828800" cy="457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15400" y="5029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 Light"/>
              </a:rPr>
              <a:t>окупаемость у клиента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1264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Segoe UI Light"/>
              </a:rPr>
              <a:t>АО ИРИДИЙ БМС   |   Июль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1885</Words>
  <Application>Microsoft Office PowerPoint</Application>
  <PresentationFormat>Широкоэкранный</PresentationFormat>
  <Paragraphs>333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Segoe UI Light</vt:lpstr>
      <vt:lpstr>Segoe UI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iRidi0903</cp:lastModifiedBy>
  <cp:revision>2</cp:revision>
  <dcterms:created xsi:type="dcterms:W3CDTF">2013-01-27T09:14:16Z</dcterms:created>
  <dcterms:modified xsi:type="dcterms:W3CDTF">2026-07-10T05:32:33Z</dcterms:modified>
  <cp:category/>
</cp:coreProperties>
</file>