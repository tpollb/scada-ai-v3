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463040"/>
            <a:ext cx="32004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0" i="0">
                <a:solidFill>
                  <a:srgbClr val="F0F0F0"/>
                </a:solidFill>
                <a:latin typeface="Segoe UI Light"/>
              </a:defRPr>
            </a:pPr>
            <a:r>
              <a:t>СИСТЕМА ОТЧЁТОВ</a:t>
            </a:r>
            <a:br/>
            <a:r>
              <a:t>iRidi SCADA-BMS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96FF"/>
                </a:solidFill>
                <a:latin typeface="Segoe UI Light"/>
              </a:defRPr>
            </a:pPr>
            <a:r>
              <a:rPr dirty="0" err="1"/>
              <a:t>Ценность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бизнеса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технологии</a:t>
            </a:r>
            <a:r>
              <a:rPr dirty="0"/>
              <a:t> </a:t>
            </a:r>
            <a:r>
              <a:rPr dirty="0" err="1"/>
              <a:t>отчётности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005840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AAAAAA"/>
                </a:solidFill>
                <a:latin typeface="Segoe UI Light"/>
              </a:defRPr>
            </a:pPr>
            <a:r>
              <a:t>От инженерных данных — к управленческим решениям,</a:t>
            </a:r>
            <a:br/>
            <a:r>
              <a:t>финансовым документам и юридической защите бизнеса.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69280"/>
            <a:ext cx="10332720" cy="8229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5806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87878"/>
                </a:solidFill>
                <a:latin typeface="Segoe UI Light"/>
              </a:defRPr>
            </a:pPr>
            <a:r>
              <a:t>Платформы: Windows · Linux · Debian 12 · Сервер кластера    |    Движок: Stimulsoft Reports    |    Источники: PostgreSQL · OData ·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01 · ЧТО ЭТО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Система отчётов iRidi SCADA-BMS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0F0F0"/>
                </a:solidFill>
                <a:latin typeface="Segoe UI Light"/>
              </a:defRPr>
            </a:pPr>
            <a:r>
              <a:t>Встроенный модуль формирования, визуализации и экспорта отчётности по всем инженерным системам объекта — от отдельного датчика до распределённой сети зданий.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338328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45720" cy="3200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96FF"/>
                </a:solidFill>
                <a:latin typeface="Segoe UI Semibold"/>
              </a:defRPr>
            </a:pPr>
            <a:r>
              <a:t>ГОТОВЫЕ ШАБЛОНЫ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49039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История событий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Значения тегов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Аварии и подтверждения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Действия персонала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Состояние БД и системы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108960"/>
            <a:ext cx="338328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3108960"/>
            <a:ext cx="45720" cy="320040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C8C8"/>
                </a:solidFill>
                <a:latin typeface="Segoe UI Semibold"/>
              </a:defRPr>
            </a:pPr>
            <a:r>
              <a:t>ИНСТРУМЕНТЫ НАСТРОЙКИ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Веб-дизайнер отчётов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Группировка по тегам и датам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Фильтры и сортировки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Итоги и агрегации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Темы и форматы оформления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08960"/>
            <a:ext cx="338328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3108960"/>
            <a:ext cx="45720" cy="320040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0C878"/>
                </a:solidFill>
                <a:latin typeface="Segoe UI Semibold"/>
              </a:defRPr>
            </a:pPr>
            <a:r>
              <a:t>ФОРМАТЫ ВЫДАЧИ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49039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PDF с подписями и PDF/A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Excel, Word, CSV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HTML, JSON, XML, SVG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Печать напрямую из браузера</a:t>
            </a:r>
          </a:p>
          <a:p>
            <a:pPr>
              <a:spcAft>
                <a:spcPts val="500"/>
              </a:spcAft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›  Экспорт по расписанию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02 · ЦКП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Ценный конечный продукт системы отчётности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1463040"/>
          </a:xfrm>
          <a:prstGeom prst="roundRect">
            <a:avLst/>
          </a:prstGeom>
          <a:solidFill>
            <a:srgbClr val="23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1463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96FF"/>
                </a:solidFill>
                <a:latin typeface="Segoe UI Semibold"/>
              </a:defRPr>
            </a:pPr>
            <a:r>
              <a:t>ЦКП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0F0F0"/>
                </a:solidFill>
                <a:latin typeface="Segoe UI Light"/>
              </a:defRPr>
            </a:pPr>
            <a:r>
              <a:t>Превращение сырых инженерных данных в управленческие решения, финансовые документы и юридически значимую доказательную базу — без привлечения программистов и внешних BI-систем.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2514600" cy="2651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45720" cy="2651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6FF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ПРОЗРАЧНОСТЬ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Полная картина работы инженерных систем с точностью до секунды — от состояния датчика до действия оператора.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657600"/>
            <a:ext cx="2514600" cy="2651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11880" y="3657600"/>
            <a:ext cx="45720" cy="26517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B400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ЗАЩИТА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Юридически значимые документы для споров с ресурсоснабжающими организациями, аудитов и проверок.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2514600" cy="2651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45720" cy="265176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0C878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ЭКОНОМИКА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Снижение затрат на энергоресурсы, сокращение трудозатрат на отчётность и возврат переплат через доказательную базу.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657600"/>
            <a:ext cx="2514600" cy="2651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3657600"/>
            <a:ext cx="45720" cy="26517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C8C8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СКОРОСТЬ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480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Отчёты формируются за секунды вместо часов. Шаблон настраивается один раз — далее работает автоматически.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03 ·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Прозрачность эксплуатации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12064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44805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96FF"/>
                </a:solidFill>
                <a:latin typeface="Segoe UI Semibold"/>
              </a:defRPr>
            </a:pPr>
            <a:r>
              <a:t>ЧТО ПОЛУЧАЕТ ЗАКАЗЧИК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Полная наблюдаемость инженерных систем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Каждое событие фиксируется с точностью до секунды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19 типов событий: аварии, действия персонала, изменения тегов, состояния БД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История доступна за любой период: час, день, месяц, год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Контроль действий персонала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Фиксация входов и выходов пользователей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Логирование всех изменений параметров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Подтверждение и квитирование аварий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Единая точка правды для всех служб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Диспетчер, инженер, руководство и аудит работают с одним набором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493776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45720" cy="44805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C8C8"/>
                </a:solidFill>
                <a:latin typeface="Segoe UI Semibold"/>
              </a:defRPr>
            </a:pPr>
            <a:r>
              <a:t>ЗА СЧЁТ ЧЕГО ДОСТИГАЕТСЯ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Технологический фундамент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Движок Stimulsoft Reports — промышленный стандарт отчётности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Подключение напрямую к PostgreSQL SCADA-сервера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Серверная генерация отчётов — не нагрузка на клиентские рабочие места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Гибкая аналитика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Группировка по тегам, зонам, датам (день / неделя / месяц)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Функции агрегации: Sum, Count, Average, DayOfYear и другие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Фильтрация по любым полям, включая не включённые в отчёт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Мгновенный доступ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Веб-интерфейс из любого браузера — без установки дополнительного ПО на рабочем месте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04 ·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Юридическая защита и доказательная база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12064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44805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B400"/>
                </a:solidFill>
                <a:latin typeface="Segoe UI Semibold"/>
              </a:defRPr>
            </a:pPr>
            <a:r>
              <a:t>ЧТО ПОЛУЧАЕТ ЗАКАЗЧИК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Защита в спорах с РСО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Доказательная база при расхождениях в показаниях с энергосбытом, водоканалом, теплосетью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Подтверждение периодов простоя и отсутствия потребления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Возврат переплат через приложения к претензиям и исковым заявлениям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Защита при аудитах и проверках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Подтверждение соблюдения регламентов эксплуатации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Документирование реакции персонала на аварийные ситуации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Доказательство корректной работы инженерных систем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Документооборот с бухгалтерией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Готовые выгрузки для сверки с ресурсоснабжающими организациями и внутренней отчётности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493776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45720" cy="448056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078FF"/>
                </a:solidFill>
                <a:latin typeface="Segoe UI Semibold"/>
              </a:defRPr>
            </a:pPr>
            <a:r>
              <a:t>ЗА СЧЁТ ЧЕГО ДОСТИГАЕТСЯ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Неизменяемость и полнота данных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Данные хранятся в PostgreSQL с привязкой к временным меткам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Логирование 19 типов событий исключает пробелы в истории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Фиксация действий каждого пользователя персонально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Юридически значимые форматы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Экспорт в PDF с поддержкой цифровых подписей и шифрования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Формат PDF/A для долгосрочного архивного хранения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Экспорт в Excel для построчной сверки с актами РСО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Консолидация данных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Группировка по расчётным периодам (день / неделя / месяц) формирует готовую картину для юристов и бухгалтерии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05 ·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Экономическая эффективность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51460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448056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50C878"/>
                </a:solidFill>
                <a:latin typeface="Segoe UI Light"/>
              </a:defRPr>
            </a:pPr>
            <a:r>
              <a:t>15–25%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снижение затрат</a:t>
            </a:r>
            <a:br/>
            <a:r>
              <a:t>на энергоресурсы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20116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Выявление аномалий потребления и неэффективных режимов работы оборудования через анализ значений тегов за периоды.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51460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828800"/>
            <a:ext cx="45720" cy="44805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0096FF"/>
                </a:solidFill>
                <a:latin typeface="Segoe UI Light"/>
              </a:defRPr>
            </a:pPr>
            <a:r>
              <a:t>30–50%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сокращение трудозатрат</a:t>
            </a:r>
            <a:br/>
            <a:r>
              <a:t>на отчётность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429000"/>
            <a:ext cx="20116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Автоматические шаблоны заменяют ручной сбор данных из журналов. Отчёт, который делался часами, — за секунды.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51460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45720" cy="44805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B400"/>
                </a:solidFill>
                <a:latin typeface="Segoe UI Light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возврат переплат</a:t>
            </a:r>
            <a:br/>
            <a:r>
              <a:t>при оспаривании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429000"/>
            <a:ext cx="20116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При успешном оспаривании начислений РСО — полный возврат на основании доказательной базы из SCADA.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828800"/>
            <a:ext cx="251460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1828800"/>
            <a:ext cx="45720" cy="44805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00C8C8"/>
                </a:solidFill>
                <a:latin typeface="Segoe UI Light"/>
              </a:defRPr>
            </a:pPr>
            <a:r>
              <a:t>0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97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дополнительных</a:t>
            </a:r>
            <a:br/>
            <a:r>
              <a:t>отчислений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429000"/>
            <a:ext cx="20116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Движок Stimulsoft лицензирован royalty-free. Создание отчётов конечными пользователями не требует дополнительных платежей.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446520"/>
            <a:ext cx="10332720" cy="320040"/>
          </a:xfrm>
          <a:prstGeom prst="roundRect">
            <a:avLst/>
          </a:prstGeom>
          <a:solidFill>
            <a:srgbClr val="23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649224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Light"/>
              </a:defRPr>
            </a:pPr>
            <a:r>
              <a:t>Типовая окупаемость модуля: 3–6 месяцев только за счёт оспаривания начислений и оптимизации энергопотребления.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06 ·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Скорость и интеграция в бизнес-процессы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12064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44805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C8C8"/>
                </a:solidFill>
                <a:latin typeface="Segoe UI Semibold"/>
              </a:defRPr>
            </a:pPr>
            <a:r>
              <a:t>ЧТО ПОЛУЧАЕТ ЗАКАЗЧИК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Мгновенная готовность отчётов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Шаблон настраивается один раз — далее работает автоматически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Формирование любого отчёта — секунды, не часы ручного труда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Регулярные регламентные отчёты — без участия оператора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Интеграция в документооборот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Бухгалтерия получает выгрузки в нужных форматах (Excel, CSV, PDF)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Руководство — сводки в удобном для принятия решений виде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Сервисные службы — отчёты по инцидентам для планирования ППР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Масштабируемость решения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От одного здания до распределённой сети объектов — единая система отчётности без перенастройки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4937760" cy="44805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45720" cy="448056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0C878"/>
                </a:solidFill>
                <a:latin typeface="Segoe UI Semibold"/>
              </a:defRPr>
            </a:pPr>
            <a:r>
              <a:t>ЗА СЧЁТ ЧЕГО ДОСТИГАЕТСЯ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Широкий спектр форматов экспорта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PDF с подписями и PDF/A для архивов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Excel и CSV для бухгалтерии и аналитики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Word и RTF для текстовых документов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HTML для веб-представления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JSON, XML для интеграции с ERP/BI</a:t>
            </a:r>
          </a:p>
          <a:p>
            <a:pPr>
              <a:spcAft>
                <a:spcPts val="12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Гибкие источники данных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PostgreSQL, OData, REST API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JSON, XML, Excel как файловые источники</a:t>
            </a:r>
          </a:p>
          <a:p>
            <a:pPr>
              <a:spcAft>
                <a:spcPts val="12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›  Поддержка SQL и NoSQL баз данных</a:t>
            </a:r>
          </a:p>
          <a:p>
            <a:pPr>
              <a:spcAft>
                <a:spcPts val="800"/>
              </a:spcAft>
              <a:defRPr sz="1500" b="1" i="0">
                <a:solidFill>
                  <a:srgbClr val="F0F0F0"/>
                </a:solidFill>
                <a:latin typeface="Segoe UI Light"/>
              </a:defRPr>
            </a:pPr>
            <a:r>
              <a:t>Кроссплатформенность</a:t>
            </a:r>
          </a:p>
          <a:p>
            <a:pPr>
              <a:spcAft>
                <a:spcPts val="600"/>
              </a:spcAft>
              <a:defRPr sz="1200" b="0" i="0">
                <a:solidFill>
                  <a:srgbClr val="AAAAAA"/>
                </a:solidFill>
                <a:latin typeface="Segoe UI Light"/>
              </a:defRPr>
            </a:pPr>
            <a:r>
              <a:t>Windows, Linux, Debian 12, Сервер кластера — единый движок Stimulsoft на всех платформах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07 ·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За счёт чего достигается ценность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AAAA"/>
                </a:solidFill>
                <a:latin typeface="Segoe UI Light"/>
              </a:defRPr>
            </a:pPr>
            <a:r>
              <a:t>Четыре технологических слоя, которые превращают инженерные данные в бизнес-результат.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2514600" cy="3794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45720" cy="3794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96FF"/>
                </a:solidFill>
                <a:latin typeface="Segoe UI Semibold"/>
              </a:defRPr>
            </a:pPr>
            <a:r>
              <a:t>СЛОЙ 1 · ДВИЖОК ОТЧЁТНОСТИ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Stimulsoft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Промышленный стандарт отчётности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Чистый JavaScript — работа в любом современном браузере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Поддержка Node.js для серверной генерации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Лицензия royalty-free — без отчислений за пользователей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Встроенный ИИ-ассистент в дизайнере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834640"/>
            <a:ext cx="2514600" cy="3794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2834640"/>
            <a:ext cx="45720" cy="37947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971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C8C8"/>
                </a:solidFill>
                <a:latin typeface="Segoe UI Semibold"/>
              </a:defRPr>
            </a:pPr>
            <a:r>
              <a:t>СЛОЙ 2 · ИСТОЧНИКИ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91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PostgreSQL + интеграции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0332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Прямое подключение к БД SCADA-сервера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MS SQL, MySQL, Oracle, Firebird, MongoDB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OData, REST API, JSON, XML, Excel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ODBC и PDO — подключение к любым СУБД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Удалённое расположение БД без потери производительности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2514600" cy="3794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45720" cy="379476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0C878"/>
                </a:solidFill>
                <a:latin typeface="Segoe UI Semibold"/>
              </a:defRPr>
            </a:pPr>
            <a:r>
              <a:t>СЛОЙ 3 · ИНСТРУМЕНТЫ АНАЛИТИКИ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Дизайнер и вьювер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Веб-дизайнер отчётов прямо из браузера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Группировка, фильтрация, сортировка, итоги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Master-Detail отчёты и многоуровневая детализация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Функции агрегации: Sum, Count, Average, DayOfYear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Настраиваемый вьювер с темами оформления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834640"/>
            <a:ext cx="2514600" cy="37947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2834640"/>
            <a:ext cx="45720" cy="37947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2971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B400"/>
                </a:solidFill>
                <a:latin typeface="Segoe UI Semibold"/>
              </a:defRPr>
            </a:pPr>
            <a:r>
              <a:t>СЛОЙ 4 · ФОРМАТЫ ВЫДАЧИ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91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25+ форматов экспорта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703320"/>
            <a:ext cx="2148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PDF с поддержкой подписей и шифрования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PDF/A для долгосрочного архивного хранения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Excel, Word, CSV для бизнес-пользователей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HTML, JSON, XML для интеграции с ERP/BI</a:t>
            </a:r>
          </a:p>
          <a:p>
            <a:pPr>
              <a:spcAft>
                <a:spcPts val="400"/>
              </a:spcAft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›  Печать и экспорт на стороне клиента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08 ·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Как данные превращаются в бизнес-решения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4884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45720" cy="3200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Light"/>
              </a:defRPr>
            </a:pPr>
            <a:r>
              <a:t>19 типов событий</a:t>
            </a:r>
            <a:br/>
            <a:r>
              <a:t>от SCADA-сервера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783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Аварии, действия персонала,</a:t>
            </a:r>
            <a:br/>
            <a:r>
              <a:t>изменения тегов, логины,</a:t>
            </a:r>
            <a:br/>
            <a:r>
              <a:t>состояния БД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28800"/>
            <a:ext cx="214884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1828800"/>
            <a:ext cx="45720" cy="320040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C8C8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ХРАНЕНИЕ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C8C8"/>
                </a:solidFill>
                <a:latin typeface="Segoe UI Light"/>
              </a:defRPr>
            </a:pPr>
            <a:r>
              <a:t>PostgreSQL</a:t>
            </a:r>
            <a:br/>
            <a:r>
              <a:t>с временными метками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291840"/>
            <a:ext cx="1783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3429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Неизменяемый лог событий</a:t>
            </a:r>
            <a:br/>
            <a:r>
              <a:t>с точностью до секунды</a:t>
            </a:r>
            <a:br/>
            <a:r>
              <a:t>и привязкой к зонам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9" y="1828800"/>
            <a:ext cx="214884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79" y="1828800"/>
            <a:ext cx="45720" cy="320040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59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0C878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ОБРАБОТКА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0C878"/>
                </a:solidFill>
                <a:latin typeface="Segoe UI Light"/>
              </a:defRPr>
            </a:pPr>
            <a:r>
              <a:t>Stimulsoft Reports</a:t>
            </a:r>
            <a:br/>
            <a:r>
              <a:t>+ шаблоны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59" y="3291840"/>
            <a:ext cx="1783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59" y="3429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Группировка, фильтрация,</a:t>
            </a:r>
            <a:br/>
            <a:r>
              <a:t>агрегация, расчёт итогов</a:t>
            </a:r>
            <a:br/>
            <a:r>
              <a:t>по заданным правилам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1828800"/>
            <a:ext cx="214884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43800" y="1828800"/>
            <a:ext cx="45720" cy="32004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6679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B400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ВЫДАЧА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B400"/>
                </a:solidFill>
                <a:latin typeface="Segoe UI Light"/>
              </a:defRPr>
            </a:pPr>
            <a:r>
              <a:t>PDF · Excel · CSV</a:t>
            </a:r>
            <a:br/>
            <a:r>
              <a:t>· JSON · 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3291840"/>
            <a:ext cx="1783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3429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Готовые документы</a:t>
            </a:r>
            <a:br/>
            <a:r>
              <a:t>для бизнеса, бухгалтерии,</a:t>
            </a:r>
            <a:br/>
            <a:r>
              <a:t>юристов и руководства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19" y="1828800"/>
            <a:ext cx="2148840" cy="32004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75519" y="1828800"/>
            <a:ext cx="45720" cy="32004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399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078FF"/>
                </a:solidFill>
                <a:latin typeface="Segoe UI Semibold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399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0F0F0"/>
                </a:solidFill>
                <a:latin typeface="Segoe UI Semibold"/>
              </a:defRPr>
            </a:pPr>
            <a:r>
              <a:t>РЕШЕНИЕ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399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078FF"/>
                </a:solidFill>
                <a:latin typeface="Segoe UI Light"/>
              </a:defRPr>
            </a:pPr>
            <a:r>
              <a:t>Управленческое</a:t>
            </a:r>
            <a:br/>
            <a:r>
              <a:t>действие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399" y="3291840"/>
            <a:ext cx="1783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399" y="3429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Segoe UI Light"/>
              </a:defRPr>
            </a:pPr>
            <a:r>
              <a:t>Оспаривание начислений,</a:t>
            </a:r>
            <a:br/>
            <a:r>
              <a:t>оптимизация энергопотребления,</a:t>
            </a:r>
            <a:br/>
            <a:r>
              <a:t>планирование ППР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03520"/>
            <a:ext cx="11109960" cy="1280160"/>
          </a:xfrm>
          <a:prstGeom prst="roundRect">
            <a:avLst/>
          </a:prstGeom>
          <a:solidFill>
            <a:srgbClr val="23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5303520"/>
            <a:ext cx="45720" cy="12801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96FF"/>
                </a:solidFill>
                <a:latin typeface="Segoe UI Semibold"/>
              </a:defRPr>
            </a:pPr>
            <a:r>
              <a:t>ФОРМУЛА ЦЕННОСТИ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F0F0"/>
                </a:solidFill>
                <a:latin typeface="Segoe UI Light"/>
              </a:defRPr>
            </a:pPr>
            <a:r>
              <a:t>Инженерные данные  +  промышленный движок отчётности  +  гибкие инструменты аналитики  +  юридически значимые форматы</a:t>
            </a:r>
            <a:br/>
            <a:r>
              <a:t>=  управленческие решения, финансовая экономия и юридическая защита бизнеса.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09 ·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Где система приносит измеримую ценность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" cy="233172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B400"/>
                </a:solidFill>
                <a:latin typeface="Segoe UI Semibold"/>
              </a:defRPr>
            </a:pPr>
            <a:r>
              <a:t>СПОРЫ С РЕСУРСОСНАБЖАЮЩИМИ ОРГАНИЗАЦИЯМИ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Главный инженер, юрист, бухгалтерия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Формирование отчётов по показаниям приборов учёта за расчётный период с группировкой по дням. Экспорт в PDF и Excel как приложение к претензии.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6118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B400"/>
                </a:solidFill>
                <a:latin typeface="Segoe UI Semibold"/>
              </a:defRPr>
            </a:pPr>
            <a:r>
              <a:t>Ценность: Возврат 100% переплат при успешном оспаривании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45720" cy="23317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0C878"/>
                </a:solidFill>
                <a:latin typeface="Segoe UI Semibold"/>
              </a:defRPr>
            </a:pPr>
            <a:r>
              <a:t>ЭНЕРГЕТИЧЕСКИЙ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40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Энергоменеджер, главный энергетик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Анализ значений тегов счётчиков и датчиков с группировкой по периодам. Выявление пиков и аномалий потребления.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6118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0C878"/>
                </a:solidFill>
                <a:latin typeface="Segoe UI Semibold"/>
              </a:defRPr>
            </a:pPr>
            <a:r>
              <a:t>Ценность: Снижение затрат на энергоресурсы на 15–25%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45720" cy="2331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96FF"/>
                </a:solidFill>
                <a:latin typeface="Segoe UI Semibold"/>
              </a:defRPr>
            </a:pPr>
            <a:r>
              <a:t>РЕГЛАМЕНТНАЯ ОТЧЁТНОСТЬ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40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Руководство, собственник, арендодатель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Автоматические ежемесячные сводки по KPI эксплуатации, статистике отказов, потреблению ресурсов без участия оператора.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36118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96FF"/>
                </a:solidFill>
                <a:latin typeface="Segoe UI Semibold"/>
              </a:defRPr>
            </a:pPr>
            <a:r>
              <a:t>Ценность: Сокращение трудозатрат на отчётность на 30–50%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434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343400"/>
            <a:ext cx="45720" cy="233172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078FF"/>
                </a:solidFill>
                <a:latin typeface="Segoe UI Semibold"/>
              </a:defRPr>
            </a:pPr>
            <a:r>
              <a:t>АУДИТ ДЕЙСТВИЙ ПЕРСОНАЛА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7548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Служба безопасности, руководство объекта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Отчёты по входам, выходам и действиям операторов. Фиксация несанкционированного доступа и изменений уставок.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61264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6217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078FF"/>
                </a:solidFill>
                <a:latin typeface="Segoe UI Semibold"/>
              </a:defRPr>
            </a:pPr>
            <a:r>
              <a:t>Ценность: Доказательная база при расследовании инцидентов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3434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26280" y="4343400"/>
            <a:ext cx="45720" cy="233172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C8C8"/>
                </a:solidFill>
                <a:latin typeface="Segoe UI Semibold"/>
              </a:defRPr>
            </a:pPr>
            <a:r>
              <a:t>АВАРИЙНЫЙ АНАЛИЗ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7548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Служба эксплуатации, сервисная служба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Последовательность событий при инцидентах, время реакции персонала, длительность аварий. Выявление системных проблем.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61264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6217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0C8C8"/>
                </a:solidFill>
                <a:latin typeface="Segoe UI Semibold"/>
              </a:defRPr>
            </a:pPr>
            <a:r>
              <a:t>Ценность: Снижение повторяемости инцидентов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343400"/>
            <a:ext cx="3383280" cy="2331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4343400"/>
            <a:ext cx="45720" cy="233172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676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B400"/>
                </a:solidFill>
                <a:latin typeface="Segoe UI Semibold"/>
              </a:defRPr>
            </a:pPr>
            <a:r>
              <a:t>СВЕРКА С БУХГАЛТЕРИЕЙ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7548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78"/>
                </a:solidFill>
                <a:latin typeface="Segoe UI Light"/>
              </a:defRPr>
            </a:pPr>
            <a:r>
              <a:t>Бухгалтерия, финансовый отдел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0F0F0"/>
                </a:solidFill>
                <a:latin typeface="Segoe UI Light"/>
              </a:defRPr>
            </a:pPr>
            <a:r>
              <a:t>Построчная сверка данных SCADA с актами ресурсоснабжающих организаций. Выявление расхождений до оплаты.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6126480"/>
            <a:ext cx="292608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66760" y="6217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B400"/>
                </a:solidFill>
                <a:latin typeface="Segoe UI Semibold"/>
              </a:defRPr>
            </a:pPr>
            <a:r>
              <a:t>Ценность: Предотвращение необоснованных платежей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96FF"/>
                </a:solidFill>
                <a:latin typeface="Segoe UI Semibold"/>
              </a:defRPr>
            </a:pPr>
            <a:r>
              <a:t>10 · 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F0F0F0"/>
                </a:solidFill>
                <a:latin typeface="Segoe UI Light"/>
              </a:defRPr>
            </a:pPr>
            <a:r>
              <a:t>Что получает заказчик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0116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F0F0F0"/>
                </a:solidFill>
                <a:latin typeface="Segoe UI Light"/>
              </a:defRPr>
            </a:pPr>
            <a:r>
              <a:t>Система отчётов iRidi SCADA-BMS — это не просто модуль визуализации данных. Это инструмент превращения инженерной информации в бизнес-результат.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45720" cy="17373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96FF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ПРОЗРАЧНОСТЬ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Полная наблюдаемость инженерных систем с точностью до секунды. Контроль действий персонала. Единая точка правды для всех служб.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743200"/>
            <a:ext cx="45720" cy="173736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B400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ЮРИДИЧЕСКАЯ ЗАЩИТА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Доказательная база для споров с РСО, аудитов и проверок. Юридически значимые форматы с поддержкой подписей и PDF/A.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45720" cy="173736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0C878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ЭКОНОМИЯ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29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Снижение затрат на энергоресурсы на 15–25%. Сокращение трудозатрат на отчётность на 30–50%. Возврат переплат при оспаривании.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6344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663440"/>
            <a:ext cx="45720" cy="1737360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7548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C8C8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СКОРОСТЬ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49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Отчёты за секунды вместо часов. Шаблон настраивается один раз. Регламентные отчёты формируются автоматически.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66344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4663440"/>
            <a:ext cx="45720" cy="173736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47548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078FF"/>
                </a:solidFill>
                <a:latin typeface="Segoe UI Semibold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ИНТЕГРАЦИЯ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49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25+ форматов экспорта. Готовые выгрузки для бухгалтерии, юристов, руководства. Интеграция с ERP и BI через JSON и XML.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663440"/>
            <a:ext cx="3383280" cy="17373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663440"/>
            <a:ext cx="45720" cy="17373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47548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96FF"/>
                </a:solidFill>
                <a:latin typeface="Segoe UI Semibold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F0F0"/>
                </a:solidFill>
                <a:latin typeface="Segoe UI Semibold"/>
              </a:defRPr>
            </a:pPr>
            <a:r>
              <a:t>МАСШТАБИРУЕМОСТЬ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49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AAAAA"/>
                </a:solidFill>
                <a:latin typeface="Segoe UI Light"/>
              </a:defRPr>
            </a:pPr>
            <a:r>
              <a:t>От одного здания до распределённой сети объектов. Кроссплатформенность: Windows, Linux, Debian 12, Сервер кластера.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1598</Words>
  <Application>Microsoft Office PowerPoint</Application>
  <PresentationFormat>Широкоэкранный</PresentationFormat>
  <Paragraphs>232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iRidi0903</cp:lastModifiedBy>
  <cp:revision>2</cp:revision>
  <dcterms:created xsi:type="dcterms:W3CDTF">2013-01-27T09:14:16Z</dcterms:created>
  <dcterms:modified xsi:type="dcterms:W3CDTF">2026-07-09T10:35:06Z</dcterms:modified>
  <cp:category/>
</cp:coreProperties>
</file>